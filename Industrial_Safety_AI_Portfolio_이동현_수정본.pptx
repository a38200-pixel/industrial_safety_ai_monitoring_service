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61"/>
  </p:normalViewPr>
  <p:slideViewPr>
    <p:cSldViewPr snapToGrid="0" snapToObjects="1">
      <p:cViewPr varScale="1">
        <p:scale>
          <a:sx n="114" d="100"/>
          <a:sy n="114" d="100"/>
        </p:scale>
        <p:origin x="66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dustrial_ai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658368"/>
            <a:ext cx="73152" cy="5440680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0120" y="786384"/>
            <a:ext cx="2395728" cy="292608"/>
          </a:xfrm>
          <a:prstGeom prst="roundRect">
            <a:avLst/>
          </a:prstGeom>
          <a:solidFill>
            <a:srgbClr val="16344C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804672"/>
            <a:ext cx="2395728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2DD4BF"/>
                </a:solidFill>
                <a:latin typeface="Apple SD Gothic Neo"/>
              </a:rPr>
              <a:t>AI · COMPUTER VISION ·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325880"/>
            <a:ext cx="5486400" cy="1517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>
                <a:solidFill>
                  <a:srgbClr val="F8FAFC"/>
                </a:solidFill>
                <a:latin typeface="Apple SD Gothic Neo"/>
              </a:rPr>
              <a:t>Industrial Safety
AI Monitoring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017520"/>
            <a:ext cx="502920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CE7F3"/>
                </a:solidFill>
                <a:latin typeface="Apple SD Gothic Neo"/>
              </a:rPr>
              <a:t>YOLO 기반 엣지 추론과 중앙 이벤트 판정을 결합한
실시간 산업 안전 모니터링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257800"/>
            <a:ext cx="530352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pple SD Gothic Neo"/>
              </a:rPr>
              <a:t>이동현</a:t>
            </a:r>
            <a:r>
              <a:rPr sz="1300" b="0">
                <a:solidFill>
                  <a:srgbClr val="91A4B7"/>
                </a:solidFill>
                <a:latin typeface="Apple SD Gothic Neo"/>
              </a:rPr>
              <a:t>  |  한국폴리텍대학 인공지능소프트웨어과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705856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DD4BF"/>
                </a:solidFill>
                <a:latin typeface="Apple SD Gothic Neo"/>
              </a:rPr>
              <a:t>취업 포트폴리오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92608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DD4BF"/>
                </a:solidFill>
                <a:latin typeface="Apple SD Gothic Neo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78992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8FAFC"/>
                </a:solidFill>
                <a:latin typeface="Apple SD Gothic Neo"/>
              </a:rPr>
              <a:t>녹화 중심 CCTV를 ‘행동 가능한 안전 이벤트’로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38328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91A4B7"/>
                </a:solidFill>
                <a:latin typeface="Apple SD Gothic Neo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554480"/>
            <a:ext cx="10945368" cy="0"/>
          </a:xfrm>
          <a:prstGeom prst="line">
            <a:avLst/>
          </a:prstGeom>
          <a:ln w="12700">
            <a:solidFill>
              <a:srgbClr val="284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874519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B7185"/>
                </a:solidFill>
                <a:latin typeface="Apple SD Gothic Neo"/>
              </a:rPr>
              <a:t>문제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21992"/>
            <a:ext cx="5074920" cy="1090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 dirty="0" err="1">
                <a:solidFill>
                  <a:srgbClr val="F8FAFC"/>
                </a:solidFill>
                <a:latin typeface="Apple SD Gothic Neo"/>
              </a:rPr>
              <a:t>다수의</a:t>
            </a:r>
            <a:r>
              <a:rPr sz="2200" b="1" dirty="0">
                <a:solidFill>
                  <a:srgbClr val="F8FAFC"/>
                </a:solidFill>
                <a:latin typeface="Apple SD Gothic Neo"/>
              </a:rPr>
              <a:t> </a:t>
            </a:r>
            <a:r>
              <a:rPr sz="2200" b="1" dirty="0" err="1">
                <a:solidFill>
                  <a:srgbClr val="F8FAFC"/>
                </a:solidFill>
                <a:latin typeface="Apple SD Gothic Neo"/>
              </a:rPr>
              <a:t>CCTV를</a:t>
            </a:r>
            <a:r>
              <a:rPr sz="2200" b="1" dirty="0">
                <a:solidFill>
                  <a:srgbClr val="F8FAFC"/>
                </a:solidFill>
                <a:latin typeface="Apple SD Gothic Neo"/>
              </a:rPr>
              <a:t> </a:t>
            </a:r>
            <a:r>
              <a:rPr sz="2200" b="1" dirty="0" err="1">
                <a:solidFill>
                  <a:srgbClr val="F8FAFC"/>
                </a:solidFill>
                <a:latin typeface="Apple SD Gothic Neo"/>
              </a:rPr>
              <a:t>사람이</a:t>
            </a:r>
            <a:r>
              <a:rPr sz="2200" b="1" dirty="0">
                <a:solidFill>
                  <a:srgbClr val="F8FAFC"/>
                </a:solidFill>
                <a:latin typeface="Apple SD Gothic Neo"/>
              </a:rPr>
              <a:t> </a:t>
            </a:r>
            <a:r>
              <a:rPr sz="2200" b="1" dirty="0" err="1">
                <a:solidFill>
                  <a:srgbClr val="F8FAFC"/>
                </a:solidFill>
                <a:latin typeface="Apple SD Gothic Neo"/>
              </a:rPr>
              <a:t>계속</a:t>
            </a:r>
            <a:r>
              <a:rPr sz="2200" b="1" dirty="0">
                <a:solidFill>
                  <a:srgbClr val="F8FAFC"/>
                </a:solidFill>
                <a:latin typeface="Apple SD Gothic Neo"/>
              </a:rPr>
              <a:t> </a:t>
            </a:r>
            <a:r>
              <a:rPr sz="2200" b="1" dirty="0" err="1">
                <a:solidFill>
                  <a:srgbClr val="F8FAFC"/>
                </a:solidFill>
                <a:latin typeface="Apple SD Gothic Neo"/>
              </a:rPr>
              <a:t>확인하는</a:t>
            </a:r>
            <a:r>
              <a:rPr sz="2200" b="1" dirty="0">
                <a:solidFill>
                  <a:srgbClr val="F8FAFC"/>
                </a:solidFill>
                <a:latin typeface="Apple SD Gothic Neo"/>
              </a:rPr>
              <a:t> </a:t>
            </a:r>
            <a:r>
              <a:rPr sz="2200" b="1" dirty="0" err="1">
                <a:solidFill>
                  <a:srgbClr val="F8FAFC"/>
                </a:solidFill>
                <a:latin typeface="Apple SD Gothic Neo"/>
              </a:rPr>
              <a:t>방식은</a:t>
            </a:r>
            <a:r>
              <a:rPr sz="2200" b="1" dirty="0">
                <a:solidFill>
                  <a:srgbClr val="F8FAFC"/>
                </a:solidFill>
                <a:latin typeface="Apple SD Gothic Neo"/>
              </a:rPr>
              <a:t>
</a:t>
            </a:r>
            <a:r>
              <a:rPr sz="2200" b="1" dirty="0" err="1">
                <a:solidFill>
                  <a:srgbClr val="F8FAFC"/>
                </a:solidFill>
                <a:latin typeface="Apple SD Gothic Neo"/>
              </a:rPr>
              <a:t>위험</a:t>
            </a:r>
            <a:r>
              <a:rPr sz="2200" b="1" dirty="0">
                <a:solidFill>
                  <a:srgbClr val="F8FAFC"/>
                </a:solidFill>
                <a:latin typeface="Apple SD Gothic Neo"/>
              </a:rPr>
              <a:t> </a:t>
            </a:r>
            <a:r>
              <a:rPr sz="2200" b="1" dirty="0" err="1">
                <a:solidFill>
                  <a:srgbClr val="F8FAFC"/>
                </a:solidFill>
                <a:latin typeface="Apple SD Gothic Neo"/>
              </a:rPr>
              <a:t>상황의</a:t>
            </a:r>
            <a:r>
              <a:rPr sz="2200" b="1" dirty="0">
                <a:solidFill>
                  <a:srgbClr val="F8FAFC"/>
                </a:solidFill>
                <a:latin typeface="Apple SD Gothic Neo"/>
              </a:rPr>
              <a:t> </a:t>
            </a:r>
            <a:r>
              <a:rPr sz="2200" b="1" dirty="0" err="1">
                <a:solidFill>
                  <a:srgbClr val="F8FAFC"/>
                </a:solidFill>
                <a:latin typeface="Apple SD Gothic Neo"/>
              </a:rPr>
              <a:t>즉시</a:t>
            </a:r>
            <a:r>
              <a:rPr sz="2200" b="1" dirty="0">
                <a:solidFill>
                  <a:srgbClr val="F8FAFC"/>
                </a:solidFill>
                <a:latin typeface="Apple SD Gothic Neo"/>
              </a:rPr>
              <a:t> </a:t>
            </a:r>
            <a:r>
              <a:rPr sz="2200" b="1" dirty="0" err="1">
                <a:solidFill>
                  <a:srgbClr val="F8FAFC"/>
                </a:solidFill>
                <a:latin typeface="Apple SD Gothic Neo"/>
              </a:rPr>
              <a:t>발견과</a:t>
            </a:r>
            <a:r>
              <a:rPr sz="2200" b="1" dirty="0">
                <a:solidFill>
                  <a:srgbClr val="F8FAFC"/>
                </a:solidFill>
                <a:latin typeface="Apple SD Gothic Neo"/>
              </a:rPr>
              <a:t> </a:t>
            </a:r>
            <a:r>
              <a:rPr sz="2200" b="1" dirty="0" err="1">
                <a:solidFill>
                  <a:srgbClr val="F8FAFC"/>
                </a:solidFill>
                <a:latin typeface="Apple SD Gothic Neo"/>
              </a:rPr>
              <a:t>증거</a:t>
            </a:r>
            <a:r>
              <a:rPr sz="2200" b="1" dirty="0">
                <a:solidFill>
                  <a:srgbClr val="F8FAFC"/>
                </a:solidFill>
                <a:latin typeface="Apple SD Gothic Neo"/>
              </a:rPr>
              <a:t> </a:t>
            </a:r>
            <a:r>
              <a:rPr sz="2200" b="1" dirty="0" err="1">
                <a:solidFill>
                  <a:srgbClr val="F8FAFC"/>
                </a:solidFill>
                <a:latin typeface="Apple SD Gothic Neo"/>
              </a:rPr>
              <a:t>확보에</a:t>
            </a:r>
            <a:r>
              <a:rPr sz="2200" b="1" dirty="0">
                <a:solidFill>
                  <a:srgbClr val="F8FAFC"/>
                </a:solidFill>
                <a:latin typeface="Apple SD Gothic Neo"/>
              </a:rPr>
              <a:t> </a:t>
            </a:r>
            <a:r>
              <a:rPr sz="2200" b="1" dirty="0" err="1">
                <a:solidFill>
                  <a:srgbClr val="F8FAFC"/>
                </a:solidFill>
                <a:latin typeface="Apple SD Gothic Neo"/>
              </a:rPr>
              <a:t>한계가</a:t>
            </a:r>
            <a:r>
              <a:rPr sz="2200" b="1" dirty="0">
                <a:solidFill>
                  <a:srgbClr val="F8FAFC"/>
                </a:solidFill>
                <a:latin typeface="Apple SD Gothic Neo"/>
              </a:rPr>
              <a:t> </a:t>
            </a:r>
            <a:r>
              <a:rPr sz="2200" b="1" dirty="0" err="1">
                <a:solidFill>
                  <a:srgbClr val="F8FAFC"/>
                </a:solidFill>
                <a:latin typeface="Apple SD Gothic Neo"/>
              </a:rPr>
              <a:t>있습니다</a:t>
            </a:r>
            <a:r>
              <a:rPr sz="2200" b="1" dirty="0">
                <a:solidFill>
                  <a:srgbClr val="F8FAFC"/>
                </a:solidFill>
                <a:latin typeface="Apple SD Gothic Neo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749039"/>
            <a:ext cx="507492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DCE7F3"/>
                </a:solidFill>
                <a:latin typeface="Apple SD Gothic Neo"/>
              </a:rPr>
              <a:t>엣지 PC가 객체를 탐지하고 중앙 서버가 현장 룰을 적용해
이벤트·썸네일·클립으로 기록하는 모니터링 파이프라인을 구현했습니다.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874519"/>
            <a:ext cx="1664208" cy="3493008"/>
          </a:xfrm>
          <a:prstGeom prst="roundRect">
            <a:avLst/>
          </a:prstGeom>
          <a:solidFill>
            <a:srgbClr val="10263B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80760" y="1874519"/>
            <a:ext cx="64008" cy="3493008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075687"/>
            <a:ext cx="1252728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DD4BF"/>
                </a:solidFill>
                <a:latin typeface="Apple SD Gothic Ne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2697479"/>
            <a:ext cx="12527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8FAFC"/>
                </a:solidFill>
                <a:latin typeface="Apple SD Gothic Neo"/>
              </a:rPr>
              <a:t>탐지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3136391"/>
            <a:ext cx="1225296" cy="2066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1A4B7"/>
                </a:solidFill>
                <a:latin typeface="Apple SD Gothic Neo"/>
              </a:rPr>
              <a:t>작업자
안전모 착용
안전모 미착용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874519"/>
            <a:ext cx="1664208" cy="3493008"/>
          </a:xfrm>
          <a:prstGeom prst="roundRect">
            <a:avLst/>
          </a:prstGeom>
          <a:solidFill>
            <a:srgbClr val="10263B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63840" y="1874519"/>
            <a:ext cx="64008" cy="34930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19872" y="2075687"/>
            <a:ext cx="1252728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F59E0B"/>
                </a:solidFill>
                <a:latin typeface="Apple SD Gothic Neo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2" y="2697479"/>
            <a:ext cx="12527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8FAFC"/>
                </a:solidFill>
                <a:latin typeface="Apple SD Gothic Neo"/>
              </a:rPr>
              <a:t>판정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9872" y="3136391"/>
            <a:ext cx="1225296" cy="2066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1A4B7"/>
                </a:solidFill>
                <a:latin typeface="Apple SD Gothic Neo"/>
              </a:rPr>
              <a:t>NO_HELMET
DANGER_ZONE
START–END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920" y="1874519"/>
            <a:ext cx="1664208" cy="3493008"/>
          </a:xfrm>
          <a:prstGeom prst="roundRect">
            <a:avLst/>
          </a:prstGeom>
          <a:solidFill>
            <a:srgbClr val="10263B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46920" y="1874519"/>
            <a:ext cx="64008" cy="3493008"/>
          </a:xfrm>
          <a:prstGeom prst="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02952" y="2075687"/>
            <a:ext cx="1252728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FB7185"/>
                </a:solidFill>
                <a:latin typeface="Apple SD Gothic Neo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2952" y="2697479"/>
            <a:ext cx="12527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8FAFC"/>
                </a:solidFill>
                <a:latin typeface="Apple SD Gothic Neo"/>
              </a:rPr>
              <a:t>관제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2952" y="3136391"/>
            <a:ext cx="1225296" cy="2066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1A4B7"/>
                </a:solidFill>
                <a:latin typeface="Apple SD Gothic Neo"/>
              </a:rPr>
              <a:t>실시간 화면
이벤트 로그
클립 재생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565392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57C91"/>
                </a:solidFill>
                <a:latin typeface="Apple SD Gothic Neo"/>
              </a:rPr>
              <a:t>Industrial Safety AI Monitoring Service · 이동현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92608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DD4BF"/>
                </a:solidFill>
                <a:latin typeface="Apple SD Gothic Neo"/>
              </a:rPr>
              <a:t>MY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78992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8FAFC"/>
                </a:solidFill>
                <a:latin typeface="Apple SD Gothic Neo"/>
              </a:rPr>
              <a:t>내가 맡은 두 가지 핵심 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1A4B7"/>
                </a:solidFill>
                <a:latin typeface="Apple SD Gothic Neo"/>
              </a:rPr>
              <a:t>모델 정확도만이 아니라 실제 서비스에서 이벤트가 생성되는 지점까지 책임졌습니다.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338328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91A4B7"/>
                </a:solidFill>
                <a:latin typeface="Apple SD Gothic Neo"/>
              </a:rP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1554480"/>
            <a:ext cx="10945368" cy="0"/>
          </a:xfrm>
          <a:prstGeom prst="line">
            <a:avLst/>
          </a:prstGeom>
          <a:ln w="12700">
            <a:solidFill>
              <a:srgbClr val="284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874519"/>
            <a:ext cx="5257800" cy="4096512"/>
          </a:xfrm>
          <a:prstGeom prst="roundRect">
            <a:avLst/>
          </a:prstGeom>
          <a:solidFill>
            <a:srgbClr val="10263B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874519"/>
            <a:ext cx="64008" cy="4096512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75687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DD4BF"/>
                </a:solidFill>
                <a:latin typeface="Apple SD Gothic Neo"/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79"/>
            <a:ext cx="4846320" cy="3193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dirty="0">
                <a:solidFill>
                  <a:srgbClr val="F8FAFC"/>
                </a:solidFill>
                <a:latin typeface="Apple SD Gothic Neo"/>
              </a:rPr>
              <a:t>AI </a:t>
            </a:r>
            <a:r>
              <a:rPr sz="2000" b="1" dirty="0" err="1">
                <a:solidFill>
                  <a:srgbClr val="F8FAFC"/>
                </a:solidFill>
                <a:latin typeface="Apple SD Gothic Neo"/>
              </a:rPr>
              <a:t>모델</a:t>
            </a:r>
            <a:r>
              <a:rPr sz="2000" b="1" dirty="0">
                <a:solidFill>
                  <a:srgbClr val="F8FAFC"/>
                </a:solidFill>
                <a:latin typeface="Apple SD Gothic Neo"/>
              </a:rPr>
              <a:t> </a:t>
            </a:r>
            <a:r>
              <a:rPr sz="2000" b="1" dirty="0" err="1">
                <a:solidFill>
                  <a:srgbClr val="F8FAFC"/>
                </a:solidFill>
                <a:latin typeface="Apple SD Gothic Neo"/>
              </a:rPr>
              <a:t>선정·배포</a:t>
            </a:r>
            <a:r>
              <a:rPr sz="2000" b="1" dirty="0">
                <a:solidFill>
                  <a:srgbClr val="F8FAFC"/>
                </a:solidFill>
                <a:latin typeface="Apple SD Gothic Neo"/>
              </a:rPr>
              <a:t> </a:t>
            </a:r>
            <a:r>
              <a:rPr sz="2000" b="1" dirty="0" err="1">
                <a:solidFill>
                  <a:srgbClr val="F8FAFC"/>
                </a:solidFill>
                <a:latin typeface="Apple SD Gothic Neo"/>
              </a:rPr>
              <a:t>최적화</a:t>
            </a:r>
            <a:endParaRPr sz="2000" b="1" dirty="0">
              <a:solidFill>
                <a:srgbClr val="F8FAFC"/>
              </a:solidFill>
              <a:latin typeface="Apple SD Gothic Ne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3482074"/>
            <a:ext cx="3356517" cy="1406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dirty="0">
                <a:solidFill>
                  <a:schemeClr val="bg1"/>
                </a:solidFill>
                <a:latin typeface="Apple SD Gothic Neo"/>
              </a:rPr>
              <a:t>• YOLO26n/s/l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성능·속도</a:t>
            </a:r>
            <a:r>
              <a:rPr sz="1600" b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비교</a:t>
            </a:r>
            <a:r>
              <a:rPr sz="1600" b="0" dirty="0">
                <a:solidFill>
                  <a:schemeClr val="bg1"/>
                </a:solidFill>
                <a:latin typeface="Apple SD Gothic Neo"/>
              </a:rPr>
              <a:t>
• Batch Size / Optimizer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실험</a:t>
            </a:r>
            <a:r>
              <a:rPr sz="1600" b="0" dirty="0">
                <a:solidFill>
                  <a:schemeClr val="bg1"/>
                </a:solidFill>
                <a:latin typeface="Apple SD Gothic Neo"/>
              </a:rPr>
              <a:t>
• Recall·F1·mAPₛ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중심</a:t>
            </a:r>
            <a:r>
              <a:rPr sz="1600" b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의사결정</a:t>
            </a:r>
            <a:r>
              <a:rPr sz="1600" b="0" dirty="0">
                <a:solidFill>
                  <a:schemeClr val="bg1"/>
                </a:solidFill>
                <a:latin typeface="Apple SD Gothic Neo"/>
              </a:rPr>
              <a:t>
•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PyTorch</a:t>
            </a:r>
            <a:r>
              <a:rPr sz="1600" b="0" dirty="0">
                <a:solidFill>
                  <a:schemeClr val="bg1"/>
                </a:solidFill>
                <a:latin typeface="Apple SD Gothic Neo"/>
              </a:rPr>
              <a:t> → ONNX →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TensorRT</a:t>
            </a:r>
            <a:r>
              <a:rPr sz="1600" b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변환</a:t>
            </a:r>
            <a:r>
              <a:rPr sz="1600" b="0" dirty="0">
                <a:solidFill>
                  <a:schemeClr val="bg1"/>
                </a:solidFill>
                <a:latin typeface="Apple SD Gothic Neo"/>
              </a:rPr>
              <a:t>
•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실제</a:t>
            </a:r>
            <a:r>
              <a:rPr sz="1600" b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시스템</a:t>
            </a:r>
            <a:r>
              <a:rPr sz="1600" b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추론</a:t>
            </a:r>
            <a:r>
              <a:rPr sz="1600" b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속도</a:t>
            </a:r>
            <a:r>
              <a:rPr sz="1600" b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검증</a:t>
            </a:r>
            <a:endParaRPr sz="1600" b="0" dirty="0">
              <a:solidFill>
                <a:schemeClr val="bg1"/>
              </a:solidFill>
              <a:latin typeface="Apple SD Gothic Neo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36208" y="1874519"/>
            <a:ext cx="5257800" cy="4096512"/>
          </a:xfrm>
          <a:prstGeom prst="roundRect">
            <a:avLst/>
          </a:prstGeom>
          <a:solidFill>
            <a:srgbClr val="10263B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6208" y="1874519"/>
            <a:ext cx="64008" cy="40965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075687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F59E0B"/>
                </a:solidFill>
                <a:latin typeface="Apple SD Gothic Neo"/>
              </a:rPr>
              <a:t>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97479"/>
            <a:ext cx="4846320" cy="3193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dirty="0" err="1">
                <a:solidFill>
                  <a:srgbClr val="F8FAFC"/>
                </a:solidFill>
                <a:latin typeface="Apple SD Gothic Neo"/>
              </a:rPr>
              <a:t>서버</a:t>
            </a:r>
            <a:r>
              <a:rPr sz="2000" b="1" dirty="0">
                <a:solidFill>
                  <a:srgbClr val="F8FAFC"/>
                </a:solidFill>
                <a:latin typeface="Apple SD Gothic Neo"/>
              </a:rPr>
              <a:t> </a:t>
            </a:r>
            <a:r>
              <a:rPr sz="2000" b="1" dirty="0" err="1">
                <a:solidFill>
                  <a:srgbClr val="F8FAFC"/>
                </a:solidFill>
                <a:latin typeface="Apple SD Gothic Neo"/>
              </a:rPr>
              <a:t>이벤트</a:t>
            </a:r>
            <a:r>
              <a:rPr sz="2000" b="1" dirty="0">
                <a:solidFill>
                  <a:srgbClr val="F8FAFC"/>
                </a:solidFill>
                <a:latin typeface="Apple SD Gothic Neo"/>
              </a:rPr>
              <a:t> </a:t>
            </a:r>
            <a:r>
              <a:rPr sz="2000" b="1" dirty="0" err="1">
                <a:solidFill>
                  <a:srgbClr val="F8FAFC"/>
                </a:solidFill>
                <a:latin typeface="Apple SD Gothic Neo"/>
              </a:rPr>
              <a:t>탐지</a:t>
            </a:r>
            <a:r>
              <a:rPr sz="2000" b="1" dirty="0">
                <a:solidFill>
                  <a:srgbClr val="F8FAFC"/>
                </a:solidFill>
                <a:latin typeface="Apple SD Gothic Neo"/>
              </a:rPr>
              <a:t> </a:t>
            </a:r>
            <a:r>
              <a:rPr sz="2000" b="1" dirty="0" err="1">
                <a:solidFill>
                  <a:srgbClr val="F8FAFC"/>
                </a:solidFill>
                <a:latin typeface="Apple SD Gothic Neo"/>
              </a:rPr>
              <a:t>룰</a:t>
            </a:r>
            <a:endParaRPr sz="2000" b="1" dirty="0">
              <a:solidFill>
                <a:srgbClr val="F8FAFC"/>
              </a:solidFill>
              <a:latin typeface="Apple SD Gothic Neo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92240" y="3381717"/>
            <a:ext cx="3677672" cy="1406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dirty="0">
                <a:solidFill>
                  <a:schemeClr val="bg1"/>
                </a:solidFill>
                <a:latin typeface="Apple SD Gothic Neo"/>
              </a:rPr>
              <a:t>•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NO_Helmet</a:t>
            </a:r>
            <a:r>
              <a:rPr sz="1600" b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기반</a:t>
            </a:r>
            <a:r>
              <a:rPr sz="1600" b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미착용</a:t>
            </a:r>
            <a:r>
              <a:rPr sz="1600" b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판정</a:t>
            </a:r>
            <a:r>
              <a:rPr sz="1600" b="0" dirty="0">
                <a:solidFill>
                  <a:schemeClr val="bg1"/>
                </a:solidFill>
                <a:latin typeface="Apple SD Gothic Neo"/>
              </a:rPr>
              <a:t>
• Person–ROI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교차</a:t>
            </a:r>
            <a:r>
              <a:rPr sz="1600" b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기반</a:t>
            </a:r>
            <a:r>
              <a:rPr sz="1600" b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위험구역</a:t>
            </a:r>
            <a:r>
              <a:rPr sz="1600" b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판정</a:t>
            </a:r>
            <a:r>
              <a:rPr sz="1600" b="0" dirty="0">
                <a:solidFill>
                  <a:schemeClr val="bg1"/>
                </a:solidFill>
                <a:latin typeface="Apple SD Gothic Neo"/>
              </a:rPr>
              <a:t>
•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이벤트</a:t>
            </a:r>
            <a:r>
              <a:rPr sz="1600" b="0" dirty="0">
                <a:solidFill>
                  <a:schemeClr val="bg1"/>
                </a:solidFill>
                <a:latin typeface="Apple SD Gothic Neo"/>
              </a:rPr>
              <a:t> START–END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수명주기</a:t>
            </a:r>
            <a:r>
              <a:rPr sz="1600" b="0" dirty="0">
                <a:solidFill>
                  <a:schemeClr val="bg1"/>
                </a:solidFill>
                <a:latin typeface="Apple SD Gothic Neo"/>
              </a:rPr>
              <a:t>
•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중복</a:t>
            </a:r>
            <a:r>
              <a:rPr sz="1600" b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후보</a:t>
            </a:r>
            <a:r>
              <a:rPr sz="1600" b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병합</a:t>
            </a:r>
            <a:r>
              <a:rPr sz="1600" b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및</a:t>
            </a:r>
            <a:r>
              <a:rPr sz="1600" b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누락</a:t>
            </a:r>
            <a:r>
              <a:rPr sz="1600" b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보정</a:t>
            </a:r>
            <a:r>
              <a:rPr sz="1600" b="0" dirty="0">
                <a:solidFill>
                  <a:schemeClr val="bg1"/>
                </a:solidFill>
                <a:latin typeface="Apple SD Gothic Neo"/>
              </a:rPr>
              <a:t>
•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당시</a:t>
            </a:r>
            <a:r>
              <a:rPr sz="1600" b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ROI·관련</a:t>
            </a:r>
            <a:r>
              <a:rPr sz="1600" b="0" dirty="0">
                <a:solidFill>
                  <a:schemeClr val="bg1"/>
                </a:solidFill>
                <a:latin typeface="Apple SD Gothic Neo"/>
              </a:rPr>
              <a:t> detection </a:t>
            </a:r>
            <a:r>
              <a:rPr sz="1600" b="0" dirty="0" err="1">
                <a:solidFill>
                  <a:schemeClr val="bg1"/>
                </a:solidFill>
                <a:latin typeface="Apple SD Gothic Neo"/>
              </a:rPr>
              <a:t>저장</a:t>
            </a:r>
            <a:endParaRPr sz="1600" b="0" dirty="0">
              <a:solidFill>
                <a:schemeClr val="bg1"/>
              </a:solidFill>
              <a:latin typeface="Apple SD Gothic Neo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63824" y="612648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67E8F9"/>
                </a:solidFill>
                <a:latin typeface="Apple SD Gothic Neo"/>
              </a:rPr>
              <a:t>개인 기여의 연결점  →  탐지 결과를 운영 가능한 이벤트로 변환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65392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57C91"/>
                </a:solidFill>
                <a:latin typeface="Apple SD Gothic Neo"/>
              </a:rPr>
              <a:t>Industrial Safety AI Monitoring Service · 이동현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92608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DD4BF"/>
                </a:solidFill>
                <a:latin typeface="Apple SD Gothic Neo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78992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8FAFC"/>
                </a:solidFill>
                <a:latin typeface="Apple SD Gothic Neo"/>
              </a:rPr>
              <a:t>추론과 운영 정책을 분리한 Client–Server–Viewer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38328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91A4B7"/>
                </a:solidFill>
                <a:latin typeface="Apple SD Gothic Neo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554480"/>
            <a:ext cx="10945368" cy="0"/>
          </a:xfrm>
          <a:prstGeom prst="line">
            <a:avLst/>
          </a:prstGeom>
          <a:ln w="12700">
            <a:solidFill>
              <a:srgbClr val="284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965960"/>
            <a:ext cx="3246120" cy="3584448"/>
          </a:xfrm>
          <a:prstGeom prst="roundRect">
            <a:avLst/>
          </a:prstGeom>
          <a:solidFill>
            <a:srgbClr val="1026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3246120" cy="91440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2267712"/>
            <a:ext cx="2788920" cy="255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dirty="0">
                <a:solidFill>
                  <a:srgbClr val="2DD4BF"/>
                </a:solidFill>
                <a:latin typeface="Apple SD Gothic Neo"/>
              </a:rPr>
              <a:t>AI CLIENT · 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798064"/>
            <a:ext cx="2624328" cy="2331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F8FAFC"/>
                </a:solidFill>
                <a:latin typeface="Apple SD Gothic Neo"/>
              </a:rPr>
              <a:t>CCTV / Webcam
↓
OpenCV Capture
↓
YOLO26l + TensorRT
↓
Tracking &amp; Upload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965960"/>
            <a:ext cx="3246120" cy="3584448"/>
          </a:xfrm>
          <a:prstGeom prst="roundRect">
            <a:avLst/>
          </a:prstGeom>
          <a:solidFill>
            <a:srgbClr val="1026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15968" y="1965960"/>
            <a:ext cx="3246120" cy="91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2267712"/>
            <a:ext cx="2788920" cy="255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dirty="0">
                <a:solidFill>
                  <a:srgbClr val="F59E0B"/>
                </a:solidFill>
                <a:latin typeface="Apple SD Gothic Neo"/>
              </a:rPr>
              <a:t>CENTRAL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798064"/>
            <a:ext cx="2624328" cy="2331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F8FAFC"/>
                </a:solidFill>
                <a:latin typeface="Apple SD Gothic Neo"/>
              </a:rPr>
              <a:t>FastAPI / Uvicorn
↓
Rule Processor
↓
SQLite + Frame Buffer
↓
Event / Clip / 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3246120" cy="3584448"/>
          </a:xfrm>
          <a:prstGeom prst="roundRect">
            <a:avLst/>
          </a:prstGeom>
          <a:solidFill>
            <a:srgbClr val="10263B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73568" y="1965960"/>
            <a:ext cx="3246120" cy="91440"/>
          </a:xfrm>
          <a:prstGeom prst="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2267712"/>
            <a:ext cx="2788920" cy="255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dirty="0">
                <a:solidFill>
                  <a:srgbClr val="FB7185"/>
                </a:solidFill>
                <a:latin typeface="Apple SD Gothic Neo"/>
              </a:rPr>
              <a:t>MONITORING VIEWER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798064"/>
            <a:ext cx="2624328" cy="2331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F8FAFC"/>
                </a:solidFill>
                <a:latin typeface="Apple SD Gothic Neo"/>
              </a:rPr>
              <a:t>Flutter Desktop
↓
Live Monitoring
↓
Event Log / Clip
↓
Rule &amp; ROI Editor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41063" y="3767328"/>
            <a:ext cx="320041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598664" y="3767328"/>
            <a:ext cx="32004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563624" y="5724144"/>
            <a:ext cx="1463040" cy="2235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dirty="0" err="1">
                <a:solidFill>
                  <a:schemeClr val="bg1"/>
                </a:solidFill>
                <a:latin typeface="Apple SD Gothic Neo"/>
              </a:rPr>
              <a:t>탐지만</a:t>
            </a:r>
            <a:r>
              <a:rPr sz="1400" b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1400" b="0" dirty="0" err="1">
                <a:solidFill>
                  <a:schemeClr val="bg1"/>
                </a:solidFill>
                <a:latin typeface="Apple SD Gothic Neo"/>
              </a:rPr>
              <a:t>수행</a:t>
            </a:r>
            <a:endParaRPr sz="1400" b="0" dirty="0">
              <a:solidFill>
                <a:schemeClr val="bg1"/>
              </a:solidFill>
              <a:latin typeface="Apple SD Gothic Neo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992624" y="5724144"/>
            <a:ext cx="1920240" cy="2235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dirty="0" err="1">
                <a:solidFill>
                  <a:srgbClr val="67E8F9"/>
                </a:solidFill>
                <a:latin typeface="Apple SD Gothic Neo"/>
              </a:rPr>
              <a:t>유일한</a:t>
            </a:r>
            <a:r>
              <a:rPr sz="1400" b="1" dirty="0">
                <a:solidFill>
                  <a:srgbClr val="67E8F9"/>
                </a:solidFill>
                <a:latin typeface="Apple SD Gothic Neo"/>
              </a:rPr>
              <a:t> </a:t>
            </a:r>
            <a:r>
              <a:rPr sz="1400" b="1" dirty="0" err="1">
                <a:solidFill>
                  <a:srgbClr val="67E8F9"/>
                </a:solidFill>
                <a:latin typeface="Apple SD Gothic Neo"/>
              </a:rPr>
              <a:t>이벤트</a:t>
            </a:r>
            <a:r>
              <a:rPr sz="1400" b="1" dirty="0">
                <a:solidFill>
                  <a:srgbClr val="67E8F9"/>
                </a:solidFill>
                <a:latin typeface="Apple SD Gothic Neo"/>
              </a:rPr>
              <a:t> </a:t>
            </a:r>
            <a:r>
              <a:rPr sz="1400" b="1" dirty="0" err="1">
                <a:solidFill>
                  <a:srgbClr val="67E8F9"/>
                </a:solidFill>
                <a:latin typeface="Apple SD Gothic Neo"/>
              </a:rPr>
              <a:t>판정</a:t>
            </a:r>
            <a:r>
              <a:rPr sz="1400" b="1" dirty="0">
                <a:solidFill>
                  <a:srgbClr val="67E8F9"/>
                </a:solidFill>
                <a:latin typeface="Apple SD Gothic Neo"/>
              </a:rPr>
              <a:t> </a:t>
            </a:r>
            <a:r>
              <a:rPr sz="1400" b="1" dirty="0" err="1">
                <a:solidFill>
                  <a:srgbClr val="67E8F9"/>
                </a:solidFill>
                <a:latin typeface="Apple SD Gothic Neo"/>
              </a:rPr>
              <a:t>주체</a:t>
            </a:r>
            <a:endParaRPr sz="1400" b="1" dirty="0">
              <a:solidFill>
                <a:srgbClr val="67E8F9"/>
              </a:solidFill>
              <a:latin typeface="Apple SD Gothic Neo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87968" y="5724144"/>
            <a:ext cx="1463040" cy="2235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dirty="0" err="1">
                <a:solidFill>
                  <a:schemeClr val="bg1"/>
                </a:solidFill>
                <a:latin typeface="Apple SD Gothic Neo"/>
              </a:rPr>
              <a:t>서버만</a:t>
            </a:r>
            <a:r>
              <a:rPr sz="1400" b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1400" b="0" dirty="0" err="1">
                <a:solidFill>
                  <a:schemeClr val="bg1"/>
                </a:solidFill>
                <a:latin typeface="Apple SD Gothic Neo"/>
              </a:rPr>
              <a:t>바라봄</a:t>
            </a:r>
            <a:endParaRPr sz="1400" b="0" dirty="0">
              <a:solidFill>
                <a:schemeClr val="bg1"/>
              </a:solidFill>
              <a:latin typeface="Apple SD Gothic Neo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1792" y="6565392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57C91"/>
                </a:solidFill>
                <a:latin typeface="Apple SD Gothic Neo"/>
              </a:rPr>
              <a:t>Industrial Safety AI Monitoring Service · 이동현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92608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DD4BF"/>
                </a:solidFill>
                <a:latin typeface="Apple SD Gothic Neo"/>
              </a:rPr>
              <a:t>END-TO-END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78992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8FAFC"/>
                </a:solidFill>
                <a:latin typeface="Apple SD Gothic Neo"/>
              </a:rPr>
              <a:t>한 프레임이 관제 이벤트가 되기까지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38328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91A4B7"/>
                </a:solidFill>
                <a:latin typeface="Apple SD Gothic Neo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554480"/>
            <a:ext cx="10945368" cy="0"/>
          </a:xfrm>
          <a:prstGeom prst="line">
            <a:avLst/>
          </a:prstGeom>
          <a:ln w="12700">
            <a:solidFill>
              <a:srgbClr val="284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2221992"/>
            <a:ext cx="1426464" cy="1965960"/>
          </a:xfrm>
          <a:prstGeom prst="roundRect">
            <a:avLst/>
          </a:prstGeom>
          <a:solidFill>
            <a:srgbClr val="1026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2423160"/>
            <a:ext cx="411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DD4BF"/>
                </a:solidFill>
                <a:latin typeface="Apple SD Gothic Ne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862072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8FAFC"/>
                </a:solidFill>
                <a:latin typeface="Apple SD Gothic Neo"/>
              </a:rP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273552"/>
            <a:ext cx="11430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91A4B7"/>
                </a:solidFill>
                <a:latin typeface="Apple SD Gothic Neo"/>
              </a:rPr>
              <a:t>카메라 프레임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93392" y="3218688"/>
            <a:ext cx="155448" cy="0"/>
          </a:xfrm>
          <a:prstGeom prst="line">
            <a:avLst/>
          </a:prstGeom>
          <a:ln w="1905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176272" y="2221992"/>
            <a:ext cx="1426464" cy="1965960"/>
          </a:xfrm>
          <a:prstGeom prst="roundRect">
            <a:avLst/>
          </a:prstGeom>
          <a:solidFill>
            <a:srgbClr val="1026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13432" y="2423160"/>
            <a:ext cx="411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DD4BF"/>
                </a:solidFill>
                <a:latin typeface="Apple SD Gothic Ne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3432" y="2862072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8FAFC"/>
                </a:solidFill>
                <a:latin typeface="Apple SD Gothic Neo"/>
              </a:rPr>
              <a:t>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3432" y="3273552"/>
            <a:ext cx="11430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91A4B7"/>
                </a:solidFill>
                <a:latin typeface="Apple SD Gothic Neo"/>
              </a:rPr>
              <a:t>YOLO 탐지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02736" y="3218688"/>
            <a:ext cx="155448" cy="0"/>
          </a:xfrm>
          <a:prstGeom prst="line">
            <a:avLst/>
          </a:prstGeom>
          <a:ln w="1905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785615" y="2221992"/>
            <a:ext cx="1426464" cy="1965960"/>
          </a:xfrm>
          <a:prstGeom prst="roundRect">
            <a:avLst/>
          </a:prstGeom>
          <a:solidFill>
            <a:srgbClr val="1026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22775" y="2423160"/>
            <a:ext cx="411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DD4BF"/>
                </a:solidFill>
                <a:latin typeface="Apple SD Gothic Ne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22775" y="2862072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8FAFC"/>
                </a:solidFill>
                <a:latin typeface="Apple SD Gothic Neo"/>
              </a:rPr>
              <a:t>TRANSMIT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22775" y="3273552"/>
            <a:ext cx="11430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91A4B7"/>
                </a:solidFill>
                <a:latin typeface="Apple SD Gothic Neo"/>
              </a:rPr>
              <a:t>Preview + Detection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12079" y="3218688"/>
            <a:ext cx="155448" cy="0"/>
          </a:xfrm>
          <a:prstGeom prst="line">
            <a:avLst/>
          </a:prstGeom>
          <a:ln w="1905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394960" y="2221992"/>
            <a:ext cx="1426464" cy="1965960"/>
          </a:xfrm>
          <a:prstGeom prst="roundRect">
            <a:avLst/>
          </a:prstGeom>
          <a:solidFill>
            <a:srgbClr val="1026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32120" y="2423160"/>
            <a:ext cx="411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59E0B"/>
                </a:solidFill>
                <a:latin typeface="Apple SD Gothic Neo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2862072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8FAFC"/>
                </a:solidFill>
                <a:latin typeface="Apple SD Gothic Neo"/>
              </a:rPr>
              <a:t>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3273552"/>
            <a:ext cx="11430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91A4B7"/>
                </a:solidFill>
                <a:latin typeface="Apple SD Gothic Neo"/>
              </a:rPr>
              <a:t>룰·ROI 판정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21424" y="3218688"/>
            <a:ext cx="155448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004304" y="2221992"/>
            <a:ext cx="1426464" cy="1965960"/>
          </a:xfrm>
          <a:prstGeom prst="roundRect">
            <a:avLst/>
          </a:prstGeom>
          <a:solidFill>
            <a:srgbClr val="1026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41464" y="2423160"/>
            <a:ext cx="411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59E0B"/>
                </a:solidFill>
                <a:latin typeface="Apple SD Gothic Neo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1464" y="2862072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8FAFC"/>
                </a:solidFill>
                <a:latin typeface="Apple SD Gothic Neo"/>
              </a:rPr>
              <a:t>LIFECYCLE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41464" y="3273552"/>
            <a:ext cx="11430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91A4B7"/>
                </a:solidFill>
                <a:latin typeface="Apple SD Gothic Neo"/>
              </a:rPr>
              <a:t>START–END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30768" y="3218688"/>
            <a:ext cx="155448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613648" y="2221992"/>
            <a:ext cx="1426464" cy="1965960"/>
          </a:xfrm>
          <a:prstGeom prst="roundRect">
            <a:avLst/>
          </a:prstGeom>
          <a:solidFill>
            <a:srgbClr val="1026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50808" y="2423160"/>
            <a:ext cx="411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59E0B"/>
                </a:solidFill>
                <a:latin typeface="Apple SD Gothic Neo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0808" y="2862072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8FAFC"/>
                </a:solidFill>
                <a:latin typeface="Apple SD Gothic Neo"/>
              </a:rPr>
              <a:t>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0808" y="3273552"/>
            <a:ext cx="11430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91A4B7"/>
                </a:solidFill>
                <a:latin typeface="Apple SD Gothic Neo"/>
              </a:rPr>
              <a:t>DB + Clip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040112" y="3218688"/>
            <a:ext cx="155448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222992" y="2221992"/>
            <a:ext cx="1426464" cy="1965960"/>
          </a:xfrm>
          <a:prstGeom prst="roundRect">
            <a:avLst/>
          </a:prstGeom>
          <a:solidFill>
            <a:srgbClr val="10263B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360152" y="2423160"/>
            <a:ext cx="411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B7185"/>
                </a:solidFill>
                <a:latin typeface="Apple SD Gothic Neo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60152" y="2862072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8FAFC"/>
                </a:solidFill>
                <a:latin typeface="Apple SD Gothic Neo"/>
              </a:rPr>
              <a:t>MONITOR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60152" y="3273552"/>
            <a:ext cx="11430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91A4B7"/>
                </a:solidFill>
                <a:latin typeface="Apple SD Gothic Neo"/>
              </a:rPr>
              <a:t>Viewer 갱신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736592"/>
            <a:ext cx="10835640" cy="950976"/>
          </a:xfrm>
          <a:prstGeom prst="roundRect">
            <a:avLst/>
          </a:prstGeom>
          <a:solidFill>
            <a:srgbClr val="0C2031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32688" y="5065776"/>
            <a:ext cx="102412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500" b="1">
                <a:solidFill>
                  <a:srgbClr val="2DD4BF"/>
                </a:solidFill>
                <a:latin typeface="Apple SD Gothic Neo"/>
              </a:rPr>
              <a:t>핵심 설계  </a:t>
            </a:r>
            <a:r>
              <a:rPr sz="1500" b="0">
                <a:solidFill>
                  <a:srgbClr val="DCE7F3"/>
                </a:solidFill>
                <a:latin typeface="Apple SD Gothic Neo"/>
              </a:rPr>
              <a:t>클라이언트는 원본 영상과 GPU 추론을 소유하고, </a:t>
            </a:r>
            <a:r>
              <a:rPr sz="1500" b="1">
                <a:solidFill>
                  <a:srgbClr val="F8FAFC"/>
                </a:solidFill>
                <a:latin typeface="Apple SD Gothic Neo"/>
              </a:rPr>
              <a:t>서버는 룰·이벤트·증거 데이터를 중앙 관리</a:t>
            </a:r>
            <a:r>
              <a:rPr sz="1500" b="0">
                <a:solidFill>
                  <a:srgbClr val="DCE7F3"/>
                </a:solidFill>
                <a:latin typeface="Apple SD Gothic Neo"/>
              </a:rPr>
              <a:t>합니다.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6565392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57C91"/>
                </a:solidFill>
                <a:latin typeface="Apple SD Gothic Neo"/>
              </a:rPr>
              <a:t>Industrial Safety AI Monitoring Service · 이동현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92608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DD4BF"/>
                </a:solidFill>
                <a:latin typeface="Apple SD Gothic Neo"/>
              </a:rPr>
              <a:t>MODEL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78992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8FAFC"/>
                </a:solidFill>
                <a:latin typeface="Apple SD Gothic Neo"/>
              </a:rPr>
              <a:t>가장 빠른 모델보다 ‘덜 놓치는 모델’을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1A4B7"/>
                </a:solidFill>
                <a:latin typeface="Apple SD Gothic Neo"/>
              </a:rPr>
              <a:t>CCTV 안전 탐지는 작은 객체와 미탐(FN)에 민감하므로 Recall·F1·mAPₛ를 함께 비교했습니다.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338328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91A4B7"/>
                </a:solidFill>
                <a:latin typeface="Apple SD Gothic Neo"/>
              </a:rP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1554480"/>
            <a:ext cx="10945368" cy="0"/>
          </a:xfrm>
          <a:prstGeom prst="line">
            <a:avLst/>
          </a:prstGeom>
          <a:ln w="12700">
            <a:solidFill>
              <a:srgbClr val="284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975104"/>
          <a:ext cx="8942832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8FAFC"/>
                          </a:solidFill>
                          <a:latin typeface="Apple SD Gothic Neo"/>
                        </a:rPr>
                        <a:t>모델</a:t>
                      </a:r>
                    </a:p>
                  </a:txBody>
                  <a:tcPr marL="73152" marR="73152" marT="36576" marB="36576">
                    <a:solidFill>
                      <a:srgbClr val="1634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8FAFC"/>
                          </a:solidFill>
                          <a:latin typeface="Apple SD Gothic Neo"/>
                        </a:rPr>
                        <a:t>Params</a:t>
                      </a:r>
                    </a:p>
                  </a:txBody>
                  <a:tcPr marL="73152" marR="73152" marT="36576" marB="36576">
                    <a:solidFill>
                      <a:srgbClr val="1634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8FAFC"/>
                          </a:solidFill>
                          <a:latin typeface="Apple SD Gothic Neo"/>
                        </a:rPr>
                        <a:t>GFLOPs</a:t>
                      </a:r>
                    </a:p>
                  </a:txBody>
                  <a:tcPr marL="73152" marR="73152" marT="36576" marB="36576">
                    <a:solidFill>
                      <a:srgbClr val="1634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8FAFC"/>
                          </a:solidFill>
                          <a:latin typeface="Apple SD Gothic Neo"/>
                        </a:rPr>
                        <a:t>mAP@50-95</a:t>
                      </a:r>
                    </a:p>
                  </a:txBody>
                  <a:tcPr marL="73152" marR="73152" marT="36576" marB="36576">
                    <a:solidFill>
                      <a:srgbClr val="1634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8FAFC"/>
                          </a:solidFill>
                          <a:latin typeface="Apple SD Gothic Neo"/>
                        </a:rPr>
                        <a:t>mAPₛ</a:t>
                      </a:r>
                    </a:p>
                  </a:txBody>
                  <a:tcPr marL="73152" marR="73152" marT="36576" marB="36576">
                    <a:solidFill>
                      <a:srgbClr val="1634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8FAFC"/>
                          </a:solidFill>
                          <a:latin typeface="Apple SD Gothic Neo"/>
                        </a:rPr>
                        <a:t>F1</a:t>
                      </a:r>
                    </a:p>
                  </a:txBody>
                  <a:tcPr marL="73152" marR="73152" marT="36576" marB="36576">
                    <a:solidFill>
                      <a:srgbClr val="1634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8FAFC"/>
                          </a:solidFill>
                          <a:latin typeface="Apple SD Gothic Neo"/>
                        </a:rPr>
                        <a:t>Recall</a:t>
                      </a:r>
                    </a:p>
                  </a:txBody>
                  <a:tcPr marL="73152" marR="73152" marT="36576" marB="36576">
                    <a:solidFill>
                      <a:srgbClr val="1634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8FAFC"/>
                          </a:solidFill>
                          <a:latin typeface="Apple SD Gothic Neo"/>
                        </a:rPr>
                        <a:t>시스템 ms</a:t>
                      </a:r>
                    </a:p>
                  </a:txBody>
                  <a:tcPr marL="73152" marR="73152" marT="36576" marB="36576">
                    <a:solidFill>
                      <a:srgbClr val="1634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8FAFC"/>
                          </a:solidFill>
                          <a:latin typeface="Apple SD Gothic Neo"/>
                        </a:rPr>
                        <a:t>YOLO26n</a:t>
                      </a:r>
                    </a:p>
                  </a:txBody>
                  <a:tcPr marL="73152" marR="73152" marT="36576" marB="36576"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8FAFC"/>
                          </a:solidFill>
                          <a:latin typeface="Apple SD Gothic Neo"/>
                        </a:rPr>
                        <a:t>2.50M</a:t>
                      </a:r>
                    </a:p>
                  </a:txBody>
                  <a:tcPr marL="73152" marR="73152" marT="36576" marB="36576"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8FAFC"/>
                          </a:solidFill>
                          <a:latin typeface="Apple SD Gothic Neo"/>
                        </a:rPr>
                        <a:t>5.77</a:t>
                      </a:r>
                    </a:p>
                  </a:txBody>
                  <a:tcPr marL="73152" marR="73152" marT="36576" marB="36576"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8FAFC"/>
                          </a:solidFill>
                          <a:latin typeface="Apple SD Gothic Neo"/>
                        </a:rPr>
                        <a:t>0.3767</a:t>
                      </a:r>
                    </a:p>
                  </a:txBody>
                  <a:tcPr marL="73152" marR="73152" marT="36576" marB="36576"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8FAFC"/>
                          </a:solidFill>
                          <a:latin typeface="Apple SD Gothic Neo"/>
                        </a:rPr>
                        <a:t>0.2978</a:t>
                      </a:r>
                    </a:p>
                  </a:txBody>
                  <a:tcPr marL="73152" marR="73152" marT="36576" marB="36576"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8FAFC"/>
                          </a:solidFill>
                          <a:latin typeface="Apple SD Gothic Neo"/>
                        </a:rPr>
                        <a:t>0.6982</a:t>
                      </a:r>
                    </a:p>
                  </a:txBody>
                  <a:tcPr marL="73152" marR="73152" marT="36576" marB="36576"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8FAFC"/>
                          </a:solidFill>
                          <a:latin typeface="Apple SD Gothic Neo"/>
                        </a:rPr>
                        <a:t>0.5741</a:t>
                      </a:r>
                    </a:p>
                  </a:txBody>
                  <a:tcPr marL="73152" marR="73152" marT="36576" marB="36576"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8FAFC"/>
                          </a:solidFill>
                          <a:latin typeface="Apple SD Gothic Neo"/>
                        </a:rPr>
                        <a:t>10.6</a:t>
                      </a:r>
                    </a:p>
                  </a:txBody>
                  <a:tcPr marL="73152" marR="73152" marT="36576" marB="36576">
                    <a:solidFill>
                      <a:srgbClr val="102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8FAFC"/>
                          </a:solidFill>
                          <a:latin typeface="Apple SD Gothic Neo"/>
                        </a:rPr>
                        <a:t>YOLO26s</a:t>
                      </a:r>
                    </a:p>
                  </a:txBody>
                  <a:tcPr marL="73152" marR="73152" marT="36576" marB="36576"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8FAFC"/>
                          </a:solidFill>
                          <a:latin typeface="Apple SD Gothic Neo"/>
                        </a:rPr>
                        <a:t>9.95M</a:t>
                      </a:r>
                    </a:p>
                  </a:txBody>
                  <a:tcPr marL="73152" marR="73152" marT="36576" marB="36576"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8FAFC"/>
                          </a:solidFill>
                          <a:latin typeface="Apple SD Gothic Neo"/>
                        </a:rPr>
                        <a:t>22.50</a:t>
                      </a:r>
                    </a:p>
                  </a:txBody>
                  <a:tcPr marL="73152" marR="73152" marT="36576" marB="36576"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8FAFC"/>
                          </a:solidFill>
                          <a:latin typeface="Apple SD Gothic Neo"/>
                        </a:rPr>
                        <a:t>0.3873</a:t>
                      </a:r>
                    </a:p>
                  </a:txBody>
                  <a:tcPr marL="73152" marR="73152" marT="36576" marB="36576"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8FAFC"/>
                          </a:solidFill>
                          <a:latin typeface="Apple SD Gothic Neo"/>
                        </a:rPr>
                        <a:t>0.3097</a:t>
                      </a:r>
                    </a:p>
                  </a:txBody>
                  <a:tcPr marL="73152" marR="73152" marT="36576" marB="36576"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8FAFC"/>
                          </a:solidFill>
                          <a:latin typeface="Apple SD Gothic Neo"/>
                        </a:rPr>
                        <a:t>0.7129</a:t>
                      </a:r>
                    </a:p>
                  </a:txBody>
                  <a:tcPr marL="73152" marR="73152" marT="36576" marB="36576"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8FAFC"/>
                          </a:solidFill>
                          <a:latin typeface="Apple SD Gothic Neo"/>
                        </a:rPr>
                        <a:t>0.5885</a:t>
                      </a:r>
                    </a:p>
                  </a:txBody>
                  <a:tcPr marL="73152" marR="73152" marT="36576" marB="36576"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8FAFC"/>
                          </a:solidFill>
                          <a:latin typeface="Apple SD Gothic Neo"/>
                        </a:rPr>
                        <a:t>17.8</a:t>
                      </a:r>
                    </a:p>
                  </a:txBody>
                  <a:tcPr marL="73152" marR="73152" marT="36576" marB="36576">
                    <a:solidFill>
                      <a:srgbClr val="102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67E8F9"/>
                          </a:solidFill>
                          <a:latin typeface="Apple SD Gothic Neo"/>
                        </a:rPr>
                        <a:t>YOLO26l</a:t>
                      </a:r>
                    </a:p>
                  </a:txBody>
                  <a:tcPr marL="73152" marR="73152" marT="36576" marB="36576">
                    <a:solidFill>
                      <a:srgbClr val="123B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67E8F9"/>
                          </a:solidFill>
                          <a:latin typeface="Apple SD Gothic Neo"/>
                        </a:rPr>
                        <a:t>26.18M</a:t>
                      </a:r>
                    </a:p>
                  </a:txBody>
                  <a:tcPr marL="73152" marR="73152" marT="36576" marB="36576">
                    <a:solidFill>
                      <a:srgbClr val="123B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67E8F9"/>
                          </a:solidFill>
                          <a:latin typeface="Apple SD Gothic Neo"/>
                        </a:rPr>
                        <a:t>93.13</a:t>
                      </a:r>
                    </a:p>
                  </a:txBody>
                  <a:tcPr marL="73152" marR="73152" marT="36576" marB="36576">
                    <a:solidFill>
                      <a:srgbClr val="123B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67E8F9"/>
                          </a:solidFill>
                          <a:latin typeface="Apple SD Gothic Neo"/>
                        </a:rPr>
                        <a:t>0.3933</a:t>
                      </a:r>
                    </a:p>
                  </a:txBody>
                  <a:tcPr marL="73152" marR="73152" marT="36576" marB="36576">
                    <a:solidFill>
                      <a:srgbClr val="123B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67E8F9"/>
                          </a:solidFill>
                          <a:latin typeface="Apple SD Gothic Neo"/>
                        </a:rPr>
                        <a:t>0.5790</a:t>
                      </a:r>
                    </a:p>
                  </a:txBody>
                  <a:tcPr marL="73152" marR="73152" marT="36576" marB="36576">
                    <a:solidFill>
                      <a:srgbClr val="123B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67E8F9"/>
                          </a:solidFill>
                          <a:latin typeface="Apple SD Gothic Neo"/>
                        </a:rPr>
                        <a:t>0.7200</a:t>
                      </a:r>
                    </a:p>
                  </a:txBody>
                  <a:tcPr marL="73152" marR="73152" marT="36576" marB="36576">
                    <a:solidFill>
                      <a:srgbClr val="123B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67E8F9"/>
                          </a:solidFill>
                          <a:latin typeface="Apple SD Gothic Neo"/>
                        </a:rPr>
                        <a:t>0.5964</a:t>
                      </a:r>
                    </a:p>
                  </a:txBody>
                  <a:tcPr marL="73152" marR="73152" marT="36576" marB="36576">
                    <a:solidFill>
                      <a:srgbClr val="123B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67E8F9"/>
                          </a:solidFill>
                          <a:latin typeface="Apple SD Gothic Neo"/>
                        </a:rPr>
                        <a:t>28.8</a:t>
                      </a:r>
                    </a:p>
                  </a:txBody>
                  <a:tcPr marL="73152" marR="73152" marT="36576" marB="36576">
                    <a:solidFill>
                      <a:srgbClr val="123B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098280" y="4425696"/>
            <a:ext cx="2395728" cy="1435608"/>
          </a:xfrm>
          <a:prstGeom prst="roundRect">
            <a:avLst/>
          </a:prstGeom>
          <a:solidFill>
            <a:srgbClr val="10263B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098280" y="4425696"/>
            <a:ext cx="64008" cy="1435608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54312" y="4626864"/>
            <a:ext cx="1984248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DD4BF"/>
                </a:solidFill>
                <a:latin typeface="Apple SD Gothic Neo"/>
              </a:rPr>
              <a:t>YOLO26l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54312" y="5034776"/>
            <a:ext cx="19842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8FAFC"/>
                </a:solidFill>
                <a:latin typeface="Apple SD Gothic Neo"/>
              </a:rPr>
              <a:t>선정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9740" y="5354816"/>
            <a:ext cx="1956816" cy="9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dirty="0">
                <a:solidFill>
                  <a:srgbClr val="91A4B7"/>
                </a:solidFill>
                <a:latin typeface="Apple SD Gothic Neo"/>
              </a:rPr>
              <a:t>30 FPS </a:t>
            </a:r>
            <a:r>
              <a:rPr sz="1100" b="0" dirty="0" err="1">
                <a:solidFill>
                  <a:srgbClr val="91A4B7"/>
                </a:solidFill>
                <a:latin typeface="Apple SD Gothic Neo"/>
              </a:rPr>
              <a:t>기준을</a:t>
            </a:r>
            <a:r>
              <a:rPr sz="1100" b="0" dirty="0">
                <a:solidFill>
                  <a:srgbClr val="91A4B7"/>
                </a:solidFill>
                <a:latin typeface="Apple SD Gothic Neo"/>
              </a:rPr>
              <a:t> </a:t>
            </a:r>
            <a:r>
              <a:rPr sz="1100" b="0" dirty="0" err="1">
                <a:solidFill>
                  <a:srgbClr val="91A4B7"/>
                </a:solidFill>
                <a:latin typeface="Apple SD Gothic Neo"/>
              </a:rPr>
              <a:t>만족하면서</a:t>
            </a:r>
            <a:r>
              <a:rPr sz="1100" b="0" dirty="0">
                <a:solidFill>
                  <a:srgbClr val="91A4B7"/>
                </a:solidFill>
                <a:latin typeface="Apple SD Gothic Neo"/>
              </a:rPr>
              <a:t>
</a:t>
            </a:r>
            <a:r>
              <a:rPr sz="1100" b="0" dirty="0" err="1">
                <a:solidFill>
                  <a:srgbClr val="91A4B7"/>
                </a:solidFill>
                <a:latin typeface="Apple SD Gothic Neo"/>
              </a:rPr>
              <a:t>작은</a:t>
            </a:r>
            <a:r>
              <a:rPr sz="1100" b="0" dirty="0">
                <a:solidFill>
                  <a:srgbClr val="91A4B7"/>
                </a:solidFill>
                <a:latin typeface="Apple SD Gothic Neo"/>
              </a:rPr>
              <a:t> </a:t>
            </a:r>
            <a:r>
              <a:rPr sz="1100" b="0" dirty="0" err="1">
                <a:solidFill>
                  <a:srgbClr val="91A4B7"/>
                </a:solidFill>
                <a:latin typeface="Apple SD Gothic Neo"/>
              </a:rPr>
              <a:t>객체</a:t>
            </a:r>
            <a:r>
              <a:rPr sz="1100" b="0" dirty="0">
                <a:solidFill>
                  <a:srgbClr val="91A4B7"/>
                </a:solidFill>
                <a:latin typeface="Apple SD Gothic Neo"/>
              </a:rPr>
              <a:t> </a:t>
            </a:r>
            <a:r>
              <a:rPr sz="1100" b="0" dirty="0" err="1">
                <a:solidFill>
                  <a:srgbClr val="91A4B7"/>
                </a:solidFill>
                <a:latin typeface="Apple SD Gothic Neo"/>
              </a:rPr>
              <a:t>탐지가</a:t>
            </a:r>
            <a:r>
              <a:rPr sz="1100" b="0" dirty="0">
                <a:solidFill>
                  <a:srgbClr val="91A4B7"/>
                </a:solidFill>
                <a:latin typeface="Apple SD Gothic Neo"/>
              </a:rPr>
              <a:t> </a:t>
            </a:r>
            <a:r>
              <a:rPr sz="1100" b="0" dirty="0" err="1">
                <a:solidFill>
                  <a:srgbClr val="91A4B7"/>
                </a:solidFill>
                <a:latin typeface="Apple SD Gothic Neo"/>
              </a:rPr>
              <a:t>가장</a:t>
            </a:r>
            <a:r>
              <a:rPr sz="1100" b="0" dirty="0">
                <a:solidFill>
                  <a:srgbClr val="91A4B7"/>
                </a:solidFill>
                <a:latin typeface="Apple SD Gothic Neo"/>
              </a:rPr>
              <a:t> </a:t>
            </a:r>
            <a:r>
              <a:rPr sz="1100" b="0" dirty="0" err="1">
                <a:solidFill>
                  <a:srgbClr val="91A4B7"/>
                </a:solidFill>
                <a:latin typeface="Apple SD Gothic Neo"/>
              </a:rPr>
              <a:t>안정적</a:t>
            </a:r>
            <a:endParaRPr sz="1100" b="0" dirty="0">
              <a:solidFill>
                <a:srgbClr val="91A4B7"/>
              </a:solidFill>
              <a:latin typeface="Apple SD Gothic Ne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449884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91A4B7"/>
                </a:solidFill>
                <a:latin typeface="Apple SD Gothic Neo"/>
              </a:rPr>
              <a:t>mAPₛ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480560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DCE7F3"/>
                </a:solidFill>
                <a:latin typeface="Apple SD Gothic Neo"/>
              </a:rPr>
              <a:t>YOLO26n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53512" y="4517136"/>
            <a:ext cx="4937760" cy="164592"/>
          </a:xfrm>
          <a:prstGeom prst="roundRect">
            <a:avLst/>
          </a:prstGeom>
          <a:solidFill>
            <a:srgbClr val="16344C"/>
          </a:solidFill>
          <a:ln>
            <a:solidFill>
              <a:srgbClr val="16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953512" y="4517136"/>
            <a:ext cx="2450774" cy="164592"/>
          </a:xfrm>
          <a:prstGeom prst="round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27848" y="4462272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2DD4BF"/>
                </a:solidFill>
                <a:latin typeface="Apple SD Gothic Neo"/>
              </a:rPr>
              <a:t>0.2978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95604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DCE7F3"/>
                </a:solidFill>
                <a:latin typeface="Apple SD Gothic Neo"/>
              </a:rPr>
              <a:t>YOLO26s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53512" y="4992624"/>
            <a:ext cx="4937760" cy="164592"/>
          </a:xfrm>
          <a:prstGeom prst="roundRect">
            <a:avLst/>
          </a:prstGeom>
          <a:solidFill>
            <a:srgbClr val="16344C"/>
          </a:solidFill>
          <a:ln>
            <a:solidFill>
              <a:srgbClr val="16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953512" y="4992624"/>
            <a:ext cx="2548707" cy="164592"/>
          </a:xfrm>
          <a:prstGeom prst="roundRect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27848" y="493776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67E8F9"/>
                </a:solidFill>
                <a:latin typeface="Apple SD Gothic Neo"/>
              </a:rPr>
              <a:t>0.3097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431536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DCE7F3"/>
                </a:solidFill>
                <a:latin typeface="Apple SD Gothic Neo"/>
              </a:rPr>
              <a:t>YOLO26l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53512" y="5468112"/>
            <a:ext cx="4937760" cy="164592"/>
          </a:xfrm>
          <a:prstGeom prst="roundRect">
            <a:avLst/>
          </a:prstGeom>
          <a:solidFill>
            <a:srgbClr val="16344C"/>
          </a:solidFill>
          <a:ln>
            <a:solidFill>
              <a:srgbClr val="16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953512" y="5468112"/>
            <a:ext cx="4764938" cy="1645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27848" y="541324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F59E0B"/>
                </a:solidFill>
                <a:latin typeface="Apple SD Gothic Neo"/>
              </a:rPr>
              <a:t>0.579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108192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91A4B7"/>
                </a:solidFill>
                <a:latin typeface="Apple SD Gothic Neo"/>
              </a:rPr>
              <a:t>※ 동일 모델 크기 비교 실험군 기준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65392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57C91"/>
                </a:solidFill>
                <a:latin typeface="Apple SD Gothic Neo"/>
              </a:rPr>
              <a:t>Source · YOLO26 CCTV 안전이벤트 탐지 프로젝트 연구보고서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92608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DD4BF"/>
                </a:solidFill>
                <a:latin typeface="Apple SD Gothic Neo"/>
              </a:rPr>
              <a:t>TRAINING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78992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8FAFC"/>
                </a:solidFill>
                <a:latin typeface="Apple SD Gothic Neo"/>
              </a:rPr>
              <a:t>YOLO26l Batch32 AdamW — 균형이 가장 좋은 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38328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91A4B7"/>
                </a:solidFill>
                <a:latin typeface="Apple SD Gothic Neo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554480"/>
            <a:ext cx="10945368" cy="0"/>
          </a:xfrm>
          <a:prstGeom prst="line">
            <a:avLst/>
          </a:prstGeom>
          <a:ln w="12700">
            <a:solidFill>
              <a:srgbClr val="284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947672"/>
          <a:ext cx="93268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8FAFC"/>
                          </a:solidFill>
                          <a:latin typeface="Apple SD Gothic Neo"/>
                        </a:rPr>
                        <a:t>학습 조건</a:t>
                      </a:r>
                    </a:p>
                  </a:txBody>
                  <a:tcPr marL="73152" marR="73152" marT="36576" marB="36576">
                    <a:solidFill>
                      <a:srgbClr val="1634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Apple SD Gothic Neo"/>
                        </a:rPr>
                        <a:t>mAP@50-95</a:t>
                      </a:r>
                    </a:p>
                  </a:txBody>
                  <a:tcPr marL="73152" marR="73152" marT="36576" marB="36576">
                    <a:solidFill>
                      <a:srgbClr val="1634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Apple SD Gothic Neo"/>
                        </a:rPr>
                        <a:t>mAPₛ</a:t>
                      </a:r>
                    </a:p>
                  </a:txBody>
                  <a:tcPr marL="73152" marR="73152" marT="36576" marB="36576">
                    <a:solidFill>
                      <a:srgbClr val="1634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Apple SD Gothic Neo"/>
                        </a:rPr>
                        <a:t>F1</a:t>
                      </a:r>
                    </a:p>
                  </a:txBody>
                  <a:tcPr marL="73152" marR="73152" marT="36576" marB="36576">
                    <a:solidFill>
                      <a:srgbClr val="1634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Apple SD Gothic Neo"/>
                        </a:rPr>
                        <a:t>Recall</a:t>
                      </a:r>
                    </a:p>
                  </a:txBody>
                  <a:tcPr marL="73152" marR="73152" marT="36576" marB="36576">
                    <a:solidFill>
                      <a:srgbClr val="1634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Apple SD Gothic Neo"/>
                        </a:rPr>
                        <a:t>TP</a:t>
                      </a:r>
                    </a:p>
                  </a:txBody>
                  <a:tcPr marL="73152" marR="73152" marT="36576" marB="36576">
                    <a:solidFill>
                      <a:srgbClr val="1634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Apple SD Gothic Neo"/>
                        </a:rPr>
                        <a:t>FN</a:t>
                      </a:r>
                    </a:p>
                  </a:txBody>
                  <a:tcPr marL="73152" marR="73152" marT="36576" marB="36576">
                    <a:solidFill>
                      <a:srgbClr val="1634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8FAFC"/>
                          </a:solidFill>
                          <a:latin typeface="Apple SD Gothic Neo"/>
                        </a:rPr>
                        <a:t>B16 AdamW</a:t>
                      </a:r>
                    </a:p>
                  </a:txBody>
                  <a:tcPr marL="73152" marR="73152" marT="36576" marB="36576"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Apple SD Gothic Neo"/>
                        </a:rPr>
                        <a:t>0.4891</a:t>
                      </a:r>
                    </a:p>
                  </a:txBody>
                  <a:tcPr marL="73152" marR="73152" marT="36576" marB="36576"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Apple SD Gothic Neo"/>
                        </a:rPr>
                        <a:t>0.3904</a:t>
                      </a:r>
                    </a:p>
                  </a:txBody>
                  <a:tcPr marL="73152" marR="73152" marT="36576" marB="36576"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Apple SD Gothic Neo"/>
                        </a:rPr>
                        <a:t>0.7410</a:t>
                      </a:r>
                    </a:p>
                  </a:txBody>
                  <a:tcPr marL="73152" marR="73152" marT="36576" marB="36576"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Apple SD Gothic Neo"/>
                        </a:rPr>
                        <a:t>0.6553</a:t>
                      </a:r>
                    </a:p>
                  </a:txBody>
                  <a:tcPr marL="73152" marR="73152" marT="36576" marB="36576"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Apple SD Gothic Neo"/>
                        </a:rPr>
                        <a:t>12,326</a:t>
                      </a:r>
                    </a:p>
                  </a:txBody>
                  <a:tcPr marL="73152" marR="73152" marT="36576" marB="36576"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Apple SD Gothic Neo"/>
                        </a:rPr>
                        <a:t>6,482</a:t>
                      </a:r>
                    </a:p>
                  </a:txBody>
                  <a:tcPr marL="73152" marR="73152" marT="36576" marB="36576">
                    <a:solidFill>
                      <a:srgbClr val="102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67E8F9"/>
                          </a:solidFill>
                          <a:latin typeface="Apple SD Gothic Neo"/>
                        </a:rPr>
                        <a:t>B32 AdamW</a:t>
                      </a:r>
                    </a:p>
                  </a:txBody>
                  <a:tcPr marL="73152" marR="73152" marT="36576" marB="36576">
                    <a:solidFill>
                      <a:srgbClr val="123B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7E8F9"/>
                          </a:solidFill>
                          <a:latin typeface="Apple SD Gothic Neo"/>
                        </a:rPr>
                        <a:t>0.4897</a:t>
                      </a:r>
                    </a:p>
                  </a:txBody>
                  <a:tcPr marL="73152" marR="73152" marT="36576" marB="36576">
                    <a:solidFill>
                      <a:srgbClr val="123B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7E8F9"/>
                          </a:solidFill>
                          <a:latin typeface="Apple SD Gothic Neo"/>
                        </a:rPr>
                        <a:t>0.3988</a:t>
                      </a:r>
                    </a:p>
                  </a:txBody>
                  <a:tcPr marL="73152" marR="73152" marT="36576" marB="36576">
                    <a:solidFill>
                      <a:srgbClr val="123B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7E8F9"/>
                          </a:solidFill>
                          <a:latin typeface="Apple SD Gothic Neo"/>
                        </a:rPr>
                        <a:t>0.7467</a:t>
                      </a:r>
                    </a:p>
                  </a:txBody>
                  <a:tcPr marL="73152" marR="73152" marT="36576" marB="36576">
                    <a:solidFill>
                      <a:srgbClr val="123B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7E8F9"/>
                          </a:solidFill>
                          <a:latin typeface="Apple SD Gothic Neo"/>
                        </a:rPr>
                        <a:t>0.6650</a:t>
                      </a:r>
                    </a:p>
                  </a:txBody>
                  <a:tcPr marL="73152" marR="73152" marT="36576" marB="36576">
                    <a:solidFill>
                      <a:srgbClr val="123B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7E8F9"/>
                          </a:solidFill>
                          <a:latin typeface="Apple SD Gothic Neo"/>
                        </a:rPr>
                        <a:t>12,508</a:t>
                      </a:r>
                    </a:p>
                  </a:txBody>
                  <a:tcPr marL="73152" marR="73152" marT="36576" marB="36576">
                    <a:solidFill>
                      <a:srgbClr val="123B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7E8F9"/>
                          </a:solidFill>
                          <a:latin typeface="Apple SD Gothic Neo"/>
                        </a:rPr>
                        <a:t>6,300</a:t>
                      </a:r>
                    </a:p>
                  </a:txBody>
                  <a:tcPr marL="73152" marR="73152" marT="36576" marB="36576">
                    <a:solidFill>
                      <a:srgbClr val="123B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8FAFC"/>
                          </a:solidFill>
                          <a:latin typeface="Apple SD Gothic Neo"/>
                        </a:rPr>
                        <a:t>B32 MuSGD</a:t>
                      </a:r>
                    </a:p>
                  </a:txBody>
                  <a:tcPr marL="73152" marR="73152" marT="36576" marB="36576"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Apple SD Gothic Neo"/>
                        </a:rPr>
                        <a:t>0.4861</a:t>
                      </a:r>
                    </a:p>
                  </a:txBody>
                  <a:tcPr marL="73152" marR="73152" marT="36576" marB="36576"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Apple SD Gothic Neo"/>
                        </a:rPr>
                        <a:t>0.4083</a:t>
                      </a:r>
                    </a:p>
                  </a:txBody>
                  <a:tcPr marL="73152" marR="73152" marT="36576" marB="36576"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Apple SD Gothic Neo"/>
                        </a:rPr>
                        <a:t>0.7413</a:t>
                      </a:r>
                    </a:p>
                  </a:txBody>
                  <a:tcPr marL="73152" marR="73152" marT="36576" marB="36576"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Apple SD Gothic Neo"/>
                        </a:rPr>
                        <a:t>0.6567</a:t>
                      </a:r>
                    </a:p>
                  </a:txBody>
                  <a:tcPr marL="73152" marR="73152" marT="36576" marB="36576"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Apple SD Gothic Neo"/>
                        </a:rPr>
                        <a:t>12,351</a:t>
                      </a:r>
                    </a:p>
                  </a:txBody>
                  <a:tcPr marL="73152" marR="73152" marT="36576" marB="36576"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Apple SD Gothic Neo"/>
                        </a:rPr>
                        <a:t>6,457</a:t>
                      </a:r>
                    </a:p>
                  </a:txBody>
                  <a:tcPr marL="73152" marR="73152" marT="36576" marB="36576">
                    <a:solidFill>
                      <a:srgbClr val="102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195560" y="1947672"/>
            <a:ext cx="1298448" cy="2240280"/>
          </a:xfrm>
          <a:prstGeom prst="roundRect">
            <a:avLst/>
          </a:prstGeom>
          <a:solidFill>
            <a:srgbClr val="10263B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195560" y="1947672"/>
            <a:ext cx="64008" cy="22402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51592" y="2167128"/>
            <a:ext cx="8869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8FAFC"/>
                </a:solidFill>
                <a:latin typeface="Apple SD Gothic Neo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1592" y="2606040"/>
            <a:ext cx="859536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1A4B7"/>
                </a:solidFill>
                <a:latin typeface="Apple SD Gothic Neo"/>
              </a:rPr>
              <a:t>최고 TP
최저 FN
최고 F1
최고 Recall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572000"/>
            <a:ext cx="3383280" cy="1234440"/>
          </a:xfrm>
          <a:prstGeom prst="roundRect">
            <a:avLst/>
          </a:prstGeom>
          <a:solidFill>
            <a:srgbClr val="10263B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4572000"/>
            <a:ext cx="64008" cy="1234440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773168"/>
            <a:ext cx="29718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DD4BF"/>
                </a:solidFill>
                <a:latin typeface="Apple SD Gothic Neo"/>
              </a:rPr>
              <a:t>0.7467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9496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8FAFC"/>
                </a:solidFill>
                <a:latin typeface="Apple SD Gothic Neo"/>
              </a:rPr>
              <a:t>F1-score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33872"/>
            <a:ext cx="2944368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1A4B7"/>
                </a:solidFill>
                <a:latin typeface="Apple SD Gothic Neo"/>
              </a:rPr>
              <a:t>Precision과 Recall의 균형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24528" y="4572000"/>
            <a:ext cx="3383280" cy="1234440"/>
          </a:xfrm>
          <a:prstGeom prst="roundRect">
            <a:avLst/>
          </a:prstGeom>
          <a:solidFill>
            <a:srgbClr val="10263B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24528" y="4572000"/>
            <a:ext cx="64008" cy="1234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80560" y="4773168"/>
            <a:ext cx="29718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F59E0B"/>
                </a:solidFill>
                <a:latin typeface="Apple SD Gothic Neo"/>
              </a:rPr>
              <a:t>0.6650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539496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8FAFC"/>
                </a:solidFill>
                <a:latin typeface="Apple SD Gothic Neo"/>
              </a:rPr>
              <a:t>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833872"/>
            <a:ext cx="2944368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1A4B7"/>
                </a:solidFill>
                <a:latin typeface="Apple SD Gothic Neo"/>
              </a:rPr>
              <a:t>실제 객체를 놓치지 않는 비율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90688" y="4572000"/>
            <a:ext cx="3703320" cy="1234440"/>
          </a:xfrm>
          <a:prstGeom prst="roundRect">
            <a:avLst/>
          </a:prstGeom>
          <a:solidFill>
            <a:srgbClr val="10263B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90688" y="4572000"/>
            <a:ext cx="64008" cy="1234440"/>
          </a:xfrm>
          <a:prstGeom prst="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0" y="4773168"/>
            <a:ext cx="329184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FB7185"/>
                </a:solidFill>
                <a:latin typeface="Apple SD Gothic Neo"/>
              </a:rPr>
              <a:t>6,300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39496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8FAFC"/>
                </a:solidFill>
                <a:latin typeface="Apple SD Gothic Neo"/>
              </a:rPr>
              <a:t>False Negative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833872"/>
            <a:ext cx="3264408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1A4B7"/>
                </a:solidFill>
                <a:latin typeface="Apple SD Gothic Neo"/>
              </a:rPr>
              <a:t>세 조건 중 가장 적은 미탐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65392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57C91"/>
                </a:solidFill>
                <a:latin typeface="Apple SD Gothic Neo"/>
              </a:rPr>
              <a:t>Source · YOLO26 CCTV 안전이벤트 탐지 프로젝트 연구보고서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92608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DD4BF"/>
                </a:solidFill>
                <a:latin typeface="Apple SD Gothic Neo"/>
              </a:rPr>
              <a:t>DEPLOYMENT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78992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8FAFC"/>
                </a:solidFill>
                <a:latin typeface="Apple SD Gothic Neo"/>
              </a:rPr>
              <a:t>대형 모델의 지연 시간을 TensorRT로 해결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38328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91A4B7"/>
                </a:solidFill>
                <a:latin typeface="Apple SD Gothic Neo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554480"/>
            <a:ext cx="10945368" cy="0"/>
          </a:xfrm>
          <a:prstGeom prst="line">
            <a:avLst/>
          </a:prstGeom>
          <a:ln w="12700">
            <a:solidFill>
              <a:srgbClr val="284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1901952"/>
            <a:ext cx="283464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2DD4BF"/>
                </a:solidFill>
                <a:latin typeface="Apple SD Gothic Neo"/>
              </a:rPr>
              <a:t>4.11×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61488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8FAFC"/>
                </a:solidFill>
                <a:latin typeface="Apple SD Gothic Neo"/>
              </a:rPr>
              <a:t>PyTorch 대비 TensorRT 추론 가속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310128"/>
            <a:ext cx="349300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CE7F3"/>
                </a:solidFill>
                <a:latin typeface="Apple SD Gothic Neo"/>
              </a:rPr>
              <a:t>정확도를 위해 YOLO26l을 선택하고,
배포 형식 최적화로 실시간성을 보완했습니다.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86537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91A4B7"/>
                </a:solidFill>
                <a:latin typeface="Apple SD Gothic Neo"/>
              </a:rPr>
              <a:t>추론 시간 · 낮을수록 좋음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2414016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DCE7F3"/>
                </a:solidFill>
                <a:latin typeface="Apple SD Gothic Neo"/>
              </a:rPr>
              <a:t>PyTorch 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450592"/>
            <a:ext cx="4206240" cy="164592"/>
          </a:xfrm>
          <a:prstGeom prst="roundRect">
            <a:avLst/>
          </a:prstGeom>
          <a:solidFill>
            <a:srgbClr val="16344C"/>
          </a:solidFill>
          <a:ln>
            <a:solidFill>
              <a:srgbClr val="16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943600" y="2450592"/>
            <a:ext cx="4104589" cy="164592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186416" y="239572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FB7185"/>
                </a:solidFill>
                <a:latin typeface="Apple SD Gothic Neo"/>
              </a:rPr>
              <a:t>29.275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3145536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DCE7F3"/>
                </a:solidFill>
                <a:latin typeface="Apple SD Gothic Neo"/>
              </a:rPr>
              <a:t>ONNX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182112"/>
            <a:ext cx="4206240" cy="164592"/>
          </a:xfrm>
          <a:prstGeom prst="roundRect">
            <a:avLst/>
          </a:prstGeom>
          <a:solidFill>
            <a:srgbClr val="16344C"/>
          </a:solidFill>
          <a:ln>
            <a:solidFill>
              <a:srgbClr val="16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943600" y="3182112"/>
            <a:ext cx="2056851" cy="1645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186416" y="312724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F59E0B"/>
                </a:solidFill>
                <a:latin typeface="Apple SD Gothic Neo"/>
              </a:rPr>
              <a:t>14.67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3877056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DCE7F3"/>
                </a:solidFill>
                <a:latin typeface="Apple SD Gothic Neo"/>
              </a:rPr>
              <a:t>TensorRT 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3913632"/>
            <a:ext cx="4206240" cy="164592"/>
          </a:xfrm>
          <a:prstGeom prst="roundRect">
            <a:avLst/>
          </a:prstGeom>
          <a:solidFill>
            <a:srgbClr val="16344C"/>
          </a:solidFill>
          <a:ln>
            <a:solidFill>
              <a:srgbClr val="16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43600" y="3913632"/>
            <a:ext cx="998000" cy="164592"/>
          </a:xfrm>
          <a:prstGeom prst="round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86416" y="385876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2DD4BF"/>
                </a:solidFill>
                <a:latin typeface="Apple SD Gothic Neo"/>
              </a:rPr>
              <a:t>7.118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4608576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DCE7F3"/>
                </a:solidFill>
                <a:latin typeface="Apple SD Gothic Neo"/>
              </a:rPr>
              <a:t>실제 시스템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4645152"/>
            <a:ext cx="4206240" cy="164592"/>
          </a:xfrm>
          <a:prstGeom prst="roundRect">
            <a:avLst/>
          </a:prstGeom>
          <a:solidFill>
            <a:srgbClr val="16344C"/>
          </a:solidFill>
          <a:ln>
            <a:solidFill>
              <a:srgbClr val="16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943600" y="4645152"/>
            <a:ext cx="1170736" cy="164592"/>
          </a:xfrm>
          <a:prstGeom prst="roundRect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86416" y="459028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67E8F9"/>
                </a:solidFill>
                <a:latin typeface="Apple SD Gothic Neo"/>
              </a:rPr>
              <a:t>8.35 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07408" y="5532120"/>
            <a:ext cx="6537960" cy="566928"/>
          </a:xfrm>
          <a:prstGeom prst="roundRect">
            <a:avLst/>
          </a:prstGeom>
          <a:solidFill>
            <a:srgbClr val="0C2031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81728" y="5687568"/>
            <a:ext cx="5989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8FAFC"/>
                </a:solidFill>
                <a:latin typeface="Apple SD Gothic Neo"/>
              </a:rPr>
              <a:t>실제 시스템 모델 추론  8.35 ms/frame  ≈  119.8 FPS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565392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57C91"/>
                </a:solidFill>
                <a:latin typeface="Apple SD Gothic Neo"/>
              </a:rPr>
              <a:t>Source · YOLO26 CCTV 안전이벤트 탐지 프로젝트 연구보고서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92608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DD4BF"/>
                </a:solidFill>
                <a:latin typeface="Apple SD Gothic Neo"/>
              </a:rPr>
              <a:t>SERVER EVENT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78992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8FAFC"/>
                </a:solidFill>
                <a:latin typeface="Apple SD Gothic Neo"/>
              </a:rPr>
              <a:t>탐지 결과를 운영 가능한 이벤트로 변환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38328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91A4B7"/>
                </a:solidFill>
                <a:latin typeface="Apple SD Gothic Neo"/>
              </a:rPr>
              <a:t>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554480"/>
            <a:ext cx="10945368" cy="0"/>
          </a:xfrm>
          <a:prstGeom prst="line">
            <a:avLst/>
          </a:prstGeom>
          <a:ln w="12700">
            <a:solidFill>
              <a:srgbClr val="284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874519"/>
            <a:ext cx="3675887" cy="2103120"/>
          </a:xfrm>
          <a:prstGeom prst="roundRect">
            <a:avLst/>
          </a:prstGeom>
          <a:solidFill>
            <a:srgbClr val="10263B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74519"/>
            <a:ext cx="64008" cy="2103120"/>
          </a:xfrm>
          <a:prstGeom prst="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75687"/>
            <a:ext cx="3264407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FB7185"/>
                </a:solidFill>
                <a:latin typeface="Apple SD Gothic Neo"/>
              </a:rPr>
              <a:t>NO_HELMET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79"/>
            <a:ext cx="326440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8FAFC"/>
                </a:solidFill>
                <a:latin typeface="Apple SD Gothic Neo"/>
              </a:rPr>
              <a:t>안전모 미착용 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36391"/>
            <a:ext cx="3236975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1A4B7"/>
                </a:solidFill>
                <a:latin typeface="Apple SD Gothic Neo"/>
              </a:rPr>
              <a:t>조건  ·  NO_Helmet 탐지
키  ·  source + person/track
결과  ·  WARNING 이벤트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233672"/>
            <a:ext cx="3675887" cy="1874519"/>
          </a:xfrm>
          <a:prstGeom prst="roundRect">
            <a:avLst/>
          </a:prstGeom>
          <a:solidFill>
            <a:srgbClr val="10263B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4233672"/>
            <a:ext cx="64008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3264407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F59E0B"/>
                </a:solidFill>
                <a:latin typeface="Apple SD Gothic Neo"/>
              </a:rPr>
              <a:t>DANGER_ZONE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56632"/>
            <a:ext cx="326440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8FAFC"/>
                </a:solidFill>
                <a:latin typeface="Apple SD Gothic Neo"/>
              </a:rPr>
              <a:t>위험구역 침입 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95544"/>
            <a:ext cx="3236975" cy="448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1A4B7"/>
                </a:solidFill>
                <a:latin typeface="Apple SD Gothic Neo"/>
              </a:rPr>
              <a:t>조건  ·  Person bbox ∩ ROI
저장  ·  이벤트 당시 ROI
결과  ·  DANGER 이벤트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190195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2DD4BF"/>
                </a:solidFill>
                <a:latin typeface="Apple SD Gothic Neo"/>
              </a:rPr>
              <a:t>EVENT STATE MACHINE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2487168"/>
            <a:ext cx="1673352" cy="1133856"/>
          </a:xfrm>
          <a:prstGeom prst="roundRect">
            <a:avLst/>
          </a:prstGeom>
          <a:solidFill>
            <a:srgbClr val="1026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0" y="2724912"/>
            <a:ext cx="167335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2DD4BF"/>
                </a:solidFill>
                <a:latin typeface="Apple SD Gothic Neo"/>
              </a:rPr>
              <a:t>CANDIDATE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081528"/>
            <a:ext cx="16733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91A4B7"/>
                </a:solidFill>
                <a:latin typeface="Apple SD Gothic Neo"/>
              </a:rPr>
              <a:t>룰 조건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2487168"/>
            <a:ext cx="1673352" cy="1133856"/>
          </a:xfrm>
          <a:prstGeom prst="roundRect">
            <a:avLst/>
          </a:prstGeom>
          <a:solidFill>
            <a:srgbClr val="1026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03720" y="2724912"/>
            <a:ext cx="167335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59E0B"/>
                </a:solidFill>
                <a:latin typeface="Apple SD Gothic Neo"/>
              </a:rPr>
              <a:t>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081528"/>
            <a:ext cx="16733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91A4B7"/>
                </a:solidFill>
                <a:latin typeface="Apple SD Gothic Neo"/>
              </a:rPr>
              <a:t>이벤트 생성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2487168"/>
            <a:ext cx="1673352" cy="1133856"/>
          </a:xfrm>
          <a:prstGeom prst="roundRect">
            <a:avLst/>
          </a:prstGeom>
          <a:solidFill>
            <a:srgbClr val="10263B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52560" y="2724912"/>
            <a:ext cx="167335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67E8F9"/>
                </a:solidFill>
                <a:latin typeface="Apple SD Gothic Neo"/>
              </a:rPr>
              <a:t>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081528"/>
            <a:ext cx="16733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91A4B7"/>
                </a:solidFill>
                <a:latin typeface="Apple SD Gothic Neo"/>
              </a:rPr>
              <a:t>연속 탐지 병합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37376" y="3054096"/>
            <a:ext cx="420624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86216" y="3054096"/>
            <a:ext cx="420624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903720" y="4261104"/>
            <a:ext cx="3822191" cy="1170432"/>
          </a:xfrm>
          <a:prstGeom prst="roundRect">
            <a:avLst/>
          </a:prstGeom>
          <a:solidFill>
            <a:srgbClr val="10263B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59752" y="449884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B7185"/>
                </a:solidFill>
                <a:latin typeface="Apple SD Gothic Neo"/>
              </a:rPr>
              <a:t>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4489704"/>
            <a:ext cx="26334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DCE7F3"/>
                </a:solidFill>
                <a:latin typeface="Apple SD Gothic Neo"/>
              </a:rPr>
              <a:t>5프레임 연속 미탐 → 지속 시간 확정 → 클립 생성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93808" y="3630168"/>
            <a:ext cx="0" cy="576072"/>
          </a:xfrm>
          <a:prstGeom prst="line">
            <a:avLst/>
          </a:prstGeom>
          <a:ln w="2540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73168" y="5724144"/>
            <a:ext cx="6537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67E8F9"/>
                </a:solidFill>
                <a:latin typeface="Apple SD Gothic Neo"/>
              </a:rPr>
              <a:t>보정 로직  ·  위치 유사도 기반 이벤트 재연결  ·  같은 프레임 중복 후보 병합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565392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57C91"/>
                </a:solidFill>
                <a:latin typeface="Apple SD Gothic Neo"/>
              </a:rPr>
              <a:t>Industrial Safety AI Monitoring Service · 이동현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92608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DD4BF"/>
                </a:solidFill>
                <a:latin typeface="Apple SD Gothic Neo"/>
              </a:rPr>
              <a:t>EVIDENCE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78992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8FAFC"/>
                </a:solidFill>
                <a:latin typeface="Apple SD Gothic Neo"/>
              </a:rPr>
              <a:t>이벤트 전후 맥락까지 남기는 증거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38328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91A4B7"/>
                </a:solidFill>
                <a:latin typeface="Apple SD Gothic Neo"/>
              </a:rP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554480"/>
            <a:ext cx="10945368" cy="0"/>
          </a:xfrm>
          <a:prstGeom prst="line">
            <a:avLst/>
          </a:prstGeom>
          <a:ln w="12700">
            <a:solidFill>
              <a:srgbClr val="284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51560" y="3017520"/>
            <a:ext cx="6355080" cy="0"/>
          </a:xfrm>
          <a:prstGeom prst="line">
            <a:avLst/>
          </a:prstGeom>
          <a:ln w="76200">
            <a:solidFill>
              <a:srgbClr val="284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874519" y="2907792"/>
            <a:ext cx="4315968" cy="219456"/>
          </a:xfrm>
          <a:prstGeom prst="round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783079" y="2926080"/>
            <a:ext cx="182880" cy="182880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59" y="3246120"/>
            <a:ext cx="118872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2DD4BF"/>
                </a:solidFill>
                <a:latin typeface="Apple SD Gothic Neo"/>
              </a:rPr>
              <a:t>START − 3s</a:t>
            </a:r>
          </a:p>
        </p:txBody>
      </p:sp>
      <p:sp>
        <p:nvSpPr>
          <p:cNvPr id="10" name="Oval 9"/>
          <p:cNvSpPr/>
          <p:nvPr/>
        </p:nvSpPr>
        <p:spPr>
          <a:xfrm>
            <a:off x="3803904" y="2926080"/>
            <a:ext cx="182880" cy="18288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00984" y="3246120"/>
            <a:ext cx="118872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Apple SD Gothic Neo"/>
              </a:rPr>
              <a:t>EVENT</a:t>
            </a:r>
          </a:p>
        </p:txBody>
      </p:sp>
      <p:sp>
        <p:nvSpPr>
          <p:cNvPr id="12" name="Oval 11"/>
          <p:cNvSpPr/>
          <p:nvPr/>
        </p:nvSpPr>
        <p:spPr>
          <a:xfrm>
            <a:off x="6099048" y="2926080"/>
            <a:ext cx="182880" cy="182880"/>
          </a:xfrm>
          <a:prstGeom prst="ellipse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96128" y="3246120"/>
            <a:ext cx="118872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B7185"/>
                </a:solidFill>
                <a:latin typeface="Apple SD Gothic Neo"/>
              </a:rPr>
              <a:t>END + 1s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212848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8FAFC"/>
                </a:solidFill>
                <a:latin typeface="Apple SD Gothic Neo"/>
              </a:rPr>
              <a:t>메모리 프레임 버퍼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913632"/>
            <a:ext cx="6309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DCE7F3"/>
                </a:solidFill>
                <a:latin typeface="Apple SD Gothic Neo"/>
              </a:rPr>
              <a:t>종료 시 선택 구간 디코딩 → MP4 인코딩 → 첫 프레임 JPG 썸네일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947672"/>
            <a:ext cx="3639312" cy="1078992"/>
          </a:xfrm>
          <a:prstGeom prst="roundRect">
            <a:avLst/>
          </a:prstGeom>
          <a:solidFill>
            <a:srgbClr val="10263B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18120" y="1947672"/>
            <a:ext cx="64008" cy="1078992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74152" y="2167128"/>
            <a:ext cx="32278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8FAFC"/>
                </a:solidFill>
                <a:latin typeface="Apple SD Gothic Neo"/>
              </a:rPr>
              <a:t>Pydantic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260604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1A4B7"/>
                </a:solidFill>
                <a:latin typeface="Apple SD Gothic Neo"/>
              </a:rPr>
              <a:t>API 응답 스키마·타입 검증
Swagger 데이터 계약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3246120"/>
            <a:ext cx="3639312" cy="1078992"/>
          </a:xfrm>
          <a:prstGeom prst="roundRect">
            <a:avLst/>
          </a:prstGeom>
          <a:solidFill>
            <a:srgbClr val="10263B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18120" y="3246120"/>
            <a:ext cx="64008" cy="107899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74152" y="3465576"/>
            <a:ext cx="32278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8FAFC"/>
                </a:solidFill>
                <a:latin typeface="Apple SD Gothic Neo"/>
              </a:rPr>
              <a:t>Uvicorn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390448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1A4B7"/>
                </a:solidFill>
                <a:latin typeface="Apple SD Gothic Neo"/>
              </a:rPr>
              <a:t>FastAPI ASGI 실행
HTTP·WebSocket 수신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4544568"/>
            <a:ext cx="3639312" cy="1078992"/>
          </a:xfrm>
          <a:prstGeom prst="roundRect">
            <a:avLst/>
          </a:prstGeom>
          <a:solidFill>
            <a:srgbClr val="10263B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818120" y="4544568"/>
            <a:ext cx="64008" cy="1078992"/>
          </a:xfrm>
          <a:prstGeom prst="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74152" y="4764024"/>
            <a:ext cx="32278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8FAFC"/>
                </a:solidFill>
                <a:latin typeface="Apple SD Gothic Neo"/>
              </a:rPr>
              <a:t>SQLite + 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4152" y="520293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1A4B7"/>
                </a:solidFill>
                <a:latin typeface="Apple SD Gothic Neo"/>
              </a:rPr>
              <a:t>이벤트 메타데이터와
MP4·JPG 증거 분리 저장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992624"/>
            <a:ext cx="6729984" cy="749808"/>
          </a:xfrm>
          <a:prstGeom prst="roundRect">
            <a:avLst/>
          </a:prstGeom>
          <a:solidFill>
            <a:srgbClr val="0C2031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2688" y="5239512"/>
            <a:ext cx="61813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67E8F9"/>
                </a:solidFill>
                <a:latin typeface="Apple SD Gothic Neo"/>
              </a:rPr>
              <a:t>룰 설정이 바뀌어도 과거 이벤트의 ROI와 관련 detection을 재현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65392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57C91"/>
                </a:solidFill>
                <a:latin typeface="Apple SD Gothic Neo"/>
              </a:rPr>
              <a:t>Industrial Safety AI Monitoring Service · 이동현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92608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DD4BF"/>
                </a:solidFill>
                <a:latin typeface="Apple SD Gothic Neo"/>
              </a:rPr>
              <a:t>MONITORING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78992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8FAFC"/>
                </a:solidFill>
                <a:latin typeface="Apple SD Gothic Neo"/>
              </a:rPr>
              <a:t>관리자가 위험 상황을 확인하고 룰을 조정하는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38328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91A4B7"/>
                </a:solidFill>
                <a:latin typeface="Apple SD Gothic Neo"/>
              </a:rPr>
              <a:t>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554480"/>
            <a:ext cx="10945368" cy="0"/>
          </a:xfrm>
          <a:prstGeom prst="line">
            <a:avLst/>
          </a:prstGeom>
          <a:ln w="12700">
            <a:solidFill>
              <a:srgbClr val="284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874519"/>
            <a:ext cx="10835640" cy="4133087"/>
          </a:xfrm>
          <a:prstGeom prst="roundRect">
            <a:avLst/>
          </a:prstGeom>
          <a:solidFill>
            <a:srgbClr val="0B1825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74519"/>
            <a:ext cx="10835640" cy="411480"/>
          </a:xfrm>
          <a:prstGeom prst="rect">
            <a:avLst/>
          </a:prstGeom>
          <a:solidFill>
            <a:srgbClr val="16344C"/>
          </a:solidFill>
          <a:ln>
            <a:solidFill>
              <a:srgbClr val="16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993391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F8FAFC"/>
                </a:solidFill>
                <a:latin typeface="Apple SD Gothic Neo"/>
              </a:rPr>
              <a:t>SAFETY MONITOR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441447"/>
            <a:ext cx="1847088" cy="3364992"/>
          </a:xfrm>
          <a:prstGeom prst="roundRect">
            <a:avLst/>
          </a:prstGeom>
          <a:solidFill>
            <a:srgbClr val="10263B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633471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91A4B7"/>
                </a:solidFill>
                <a:latin typeface="Apple SD Gothic Neo"/>
              </a:rPr>
              <a:t>CAMERAS</a:t>
            </a:r>
          </a:p>
        </p:txBody>
      </p:sp>
      <p:sp>
        <p:nvSpPr>
          <p:cNvPr id="11" name="Oval 10"/>
          <p:cNvSpPr/>
          <p:nvPr/>
        </p:nvSpPr>
        <p:spPr>
          <a:xfrm>
            <a:off x="969264" y="3044951"/>
            <a:ext cx="109728" cy="10972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70432" y="3017519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DCE7F3"/>
                </a:solidFill>
                <a:latin typeface="Apple SD Gothic Neo"/>
              </a:rPr>
              <a:t>Line A · Entry</a:t>
            </a:r>
          </a:p>
        </p:txBody>
      </p:sp>
      <p:sp>
        <p:nvSpPr>
          <p:cNvPr id="13" name="Oval 12"/>
          <p:cNvSpPr/>
          <p:nvPr/>
        </p:nvSpPr>
        <p:spPr>
          <a:xfrm>
            <a:off x="969264" y="3666743"/>
            <a:ext cx="109728" cy="10972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0432" y="3639311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DCE7F3"/>
                </a:solidFill>
                <a:latin typeface="Apple SD Gothic Neo"/>
              </a:rPr>
              <a:t>Line B · Press</a:t>
            </a:r>
          </a:p>
        </p:txBody>
      </p:sp>
      <p:sp>
        <p:nvSpPr>
          <p:cNvPr id="15" name="Oval 14"/>
          <p:cNvSpPr/>
          <p:nvPr/>
        </p:nvSpPr>
        <p:spPr>
          <a:xfrm>
            <a:off x="969264" y="4288535"/>
            <a:ext cx="109728" cy="109728"/>
          </a:xfrm>
          <a:prstGeom prst="ellipse">
            <a:avLst/>
          </a:prstGeom>
          <a:solidFill>
            <a:srgbClr val="91A4B7"/>
          </a:solidFill>
          <a:ln>
            <a:solidFill>
              <a:srgbClr val="91A4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70432" y="4261103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DCE7F3"/>
                </a:solidFill>
                <a:latin typeface="Apple SD Gothic Neo"/>
              </a:rPr>
              <a:t>Warehouse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07208" y="2441447"/>
            <a:ext cx="2148840" cy="1481328"/>
          </a:xfrm>
          <a:prstGeom prst="roundRect">
            <a:avLst/>
          </a:prstGeom>
          <a:solidFill>
            <a:srgbClr val="122B3D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35224" y="2560319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91A4B7"/>
                </a:solidFill>
                <a:latin typeface="Apple SD Gothic Neo"/>
              </a:rPr>
              <a:t>CAM 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13048" y="2788919"/>
            <a:ext cx="438912" cy="841248"/>
          </a:xfrm>
          <a:prstGeom prst="roundRect">
            <a:avLst/>
          </a:prstGeom>
          <a:solidFill>
            <a:srgbClr val="173447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138928" y="2441447"/>
            <a:ext cx="2148840" cy="1481328"/>
          </a:xfrm>
          <a:prstGeom prst="roundRect">
            <a:avLst/>
          </a:prstGeom>
          <a:solidFill>
            <a:srgbClr val="122B3D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66944" y="2560319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91A4B7"/>
                </a:solidFill>
                <a:latin typeface="Apple SD Gothic Neo"/>
              </a:rPr>
              <a:t>CAM 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2788919"/>
            <a:ext cx="438912" cy="841248"/>
          </a:xfrm>
          <a:prstGeom prst="roundRect">
            <a:avLst/>
          </a:prstGeom>
          <a:solidFill>
            <a:srgbClr val="173447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807208" y="4133087"/>
            <a:ext cx="2148840" cy="1481328"/>
          </a:xfrm>
          <a:prstGeom prst="roundRect">
            <a:avLst/>
          </a:prstGeom>
          <a:solidFill>
            <a:srgbClr val="122B3D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35224" y="4251959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91A4B7"/>
                </a:solidFill>
                <a:latin typeface="Apple SD Gothic Neo"/>
              </a:rPr>
              <a:t>CAM 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13048" y="4480559"/>
            <a:ext cx="438912" cy="841248"/>
          </a:xfrm>
          <a:prstGeom prst="roundRect">
            <a:avLst/>
          </a:prstGeom>
          <a:solidFill>
            <a:srgbClr val="173447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18104" y="4882895"/>
            <a:ext cx="1444752" cy="512064"/>
          </a:xfrm>
          <a:prstGeom prst="roundRect">
            <a:avLst/>
          </a:prstGeom>
          <a:solidFill>
            <a:srgbClr val="6B2F16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138928" y="4133087"/>
            <a:ext cx="2148840" cy="1481328"/>
          </a:xfrm>
          <a:prstGeom prst="roundRect">
            <a:avLst/>
          </a:prstGeom>
          <a:solidFill>
            <a:srgbClr val="122B3D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66944" y="4251959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91A4B7"/>
                </a:solidFill>
                <a:latin typeface="Apple SD Gothic Neo"/>
              </a:rPr>
              <a:t>CAM 04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4480559"/>
            <a:ext cx="438912" cy="841248"/>
          </a:xfrm>
          <a:prstGeom prst="roundRect">
            <a:avLst/>
          </a:prstGeom>
          <a:solidFill>
            <a:srgbClr val="173447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607808" y="2441447"/>
            <a:ext cx="3730752" cy="3364992"/>
          </a:xfrm>
          <a:prstGeom prst="roundRect">
            <a:avLst/>
          </a:prstGeom>
          <a:solidFill>
            <a:srgbClr val="10263B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08976" y="2633471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91A4B7"/>
                </a:solidFill>
                <a:latin typeface="Apple SD Gothic Neo"/>
              </a:rPr>
              <a:t>EVENT LOG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90688" y="3017519"/>
            <a:ext cx="3346704" cy="566928"/>
          </a:xfrm>
          <a:prstGeom prst="roundRect">
            <a:avLst/>
          </a:prstGeom>
          <a:solidFill>
            <a:srgbClr val="11283A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90688" y="3017519"/>
            <a:ext cx="45720" cy="566928"/>
          </a:xfrm>
          <a:prstGeom prst="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64424" y="3108959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FB7185"/>
                </a:solidFill>
                <a:latin typeface="Apple SD Gothic Neo"/>
              </a:rPr>
              <a:t>NO HELMET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3118103"/>
            <a:ext cx="16642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91A4B7"/>
                </a:solidFill>
                <a:latin typeface="Apple SD Gothic Neo"/>
              </a:rPr>
              <a:t>CAM 02 · 10:24:18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90688" y="3730751"/>
            <a:ext cx="3346704" cy="566928"/>
          </a:xfrm>
          <a:prstGeom prst="roundRect">
            <a:avLst/>
          </a:prstGeom>
          <a:solidFill>
            <a:srgbClr val="11283A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90688" y="3730751"/>
            <a:ext cx="45720" cy="56692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64424" y="3822191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F59E0B"/>
                </a:solidFill>
                <a:latin typeface="Apple SD Gothic Neo"/>
              </a:rPr>
              <a:t>DANGER ZONE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3728" y="3831335"/>
            <a:ext cx="16642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91A4B7"/>
                </a:solidFill>
                <a:latin typeface="Apple SD Gothic Neo"/>
              </a:rPr>
              <a:t>CAM 03 · 10:22:07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90688" y="4443983"/>
            <a:ext cx="3346704" cy="566928"/>
          </a:xfrm>
          <a:prstGeom prst="roundRect">
            <a:avLst/>
          </a:prstGeom>
          <a:solidFill>
            <a:srgbClr val="11283A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790688" y="4443983"/>
            <a:ext cx="45720" cy="566928"/>
          </a:xfrm>
          <a:prstGeom prst="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964424" y="4535423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FB7185"/>
                </a:solidFill>
                <a:latin typeface="Apple SD Gothic Neo"/>
              </a:rPr>
              <a:t>NO HELMET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53728" y="4544567"/>
            <a:ext cx="16642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91A4B7"/>
                </a:solidFill>
                <a:latin typeface="Apple SD Gothic Neo"/>
              </a:rPr>
              <a:t>CAM 01 · 10:17:42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14600" y="6181344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91A4B7"/>
                </a:solidFill>
                <a:latin typeface="Apple SD Gothic Neo"/>
              </a:rPr>
              <a:t>기능 구성 예시 · 실제 구현: 다중 카메라, 이벤트 필터, 클립 재생, ROI 편집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6565392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57C91"/>
                </a:solidFill>
                <a:latin typeface="Apple SD Gothic Neo"/>
              </a:rPr>
              <a:t>Industrial Safety AI Monitoring Service · 이동현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92608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DD4BF"/>
                </a:solidFill>
                <a:latin typeface="Apple SD Gothic Neo"/>
              </a:rPr>
              <a:t>MONITORING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789920" cy="415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2600" b="1" dirty="0">
                <a:solidFill>
                  <a:srgbClr val="F8FAFC"/>
                </a:solidFill>
                <a:latin typeface="Apple SD Gothic Neo"/>
              </a:rPr>
              <a:t>최종 실제 시스템</a:t>
            </a:r>
            <a:r>
              <a:rPr sz="2600" b="1" dirty="0">
                <a:solidFill>
                  <a:srgbClr val="F8FAFC"/>
                </a:solidFill>
                <a:latin typeface="Apple SD Gothic Neo"/>
              </a:rPr>
              <a:t> </a:t>
            </a:r>
            <a:r>
              <a:rPr lang="ko-KR" altLang="en-US" sz="2600" b="1" dirty="0">
                <a:solidFill>
                  <a:srgbClr val="F8FAFC"/>
                </a:solidFill>
                <a:latin typeface="Apple SD Gothic Neo"/>
              </a:rPr>
              <a:t>뷰어 및 탐지</a:t>
            </a:r>
            <a:endParaRPr sz="2600" b="1" dirty="0">
              <a:solidFill>
                <a:srgbClr val="F8FAFC"/>
              </a:solidFill>
              <a:latin typeface="Apple SD Gothic Ne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37392" y="338328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91A4B7"/>
                </a:solidFill>
                <a:latin typeface="Apple SD Gothic Neo"/>
              </a:rPr>
              <a:t>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6565392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57C91"/>
                </a:solidFill>
                <a:latin typeface="Apple SD Gothic Neo"/>
              </a:rPr>
              <a:t>Industrial Safety AI Monitoring Service · 이동현</a:t>
            </a:r>
          </a:p>
        </p:txBody>
      </p:sp>
      <p:pic>
        <p:nvPicPr>
          <p:cNvPr id="47" name="Image 0" descr="/mnt/data/cropped_assets/dash4_large.jpg">
            <a:extLst>
              <a:ext uri="{FF2B5EF4-FFF2-40B4-BE49-F238E27FC236}">
                <a16:creationId xmlns:a16="http://schemas.microsoft.com/office/drawing/2014/main" id="{2DAC5E7A-2450-BB26-EFDB-B4AF7E0DA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627" y="1125860"/>
            <a:ext cx="9378250" cy="53414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92608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DD4BF"/>
                </a:solidFill>
                <a:latin typeface="Apple SD Gothic Neo"/>
              </a:rPr>
              <a:t>OUTCOME &amp;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78992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8FAFC"/>
                </a:solidFill>
                <a:latin typeface="Apple SD Gothic Neo"/>
              </a:rPr>
              <a:t>모델 실험을 서비스 의사결정으로 연결한 경험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38328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91A4B7"/>
                </a:solidFill>
                <a:latin typeface="Apple SD Gothic Neo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554480"/>
            <a:ext cx="10945368" cy="0"/>
          </a:xfrm>
          <a:prstGeom prst="line">
            <a:avLst/>
          </a:prstGeom>
          <a:ln w="12700">
            <a:solidFill>
              <a:srgbClr val="284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901952"/>
            <a:ext cx="3401568" cy="1965960"/>
          </a:xfrm>
          <a:prstGeom prst="roundRect">
            <a:avLst/>
          </a:prstGeom>
          <a:solidFill>
            <a:srgbClr val="10263B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901952"/>
            <a:ext cx="64008" cy="1965960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990088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DD4BF"/>
                </a:solidFill>
                <a:latin typeface="Apple SD Gothic Ne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24912"/>
            <a:ext cx="29900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8FAFC"/>
                </a:solidFill>
                <a:latin typeface="Apple SD Gothic Neo"/>
              </a:rPr>
              <a:t>모델 성능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63824"/>
            <a:ext cx="2962656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1A4B7"/>
                </a:solidFill>
                <a:latin typeface="Apple SD Gothic Neo"/>
              </a:rPr>
              <a:t>YOLO26l B32 AdamW
F1 0.7467 · Recall 0.6650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901952"/>
            <a:ext cx="3401568" cy="1965960"/>
          </a:xfrm>
          <a:prstGeom prst="roundRect">
            <a:avLst/>
          </a:prstGeom>
          <a:solidFill>
            <a:srgbClr val="10263B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79392" y="1901952"/>
            <a:ext cx="64008" cy="19659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5424" y="2103120"/>
            <a:ext cx="2990088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F59E0B"/>
                </a:solidFill>
                <a:latin typeface="Apple SD Gothic Ne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724912"/>
            <a:ext cx="29900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8FAFC"/>
                </a:solidFill>
                <a:latin typeface="Apple SD Gothic Neo"/>
              </a:rPr>
              <a:t>실시간 최적화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163824"/>
            <a:ext cx="2962656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1A4B7"/>
                </a:solidFill>
                <a:latin typeface="Apple SD Gothic Neo"/>
              </a:rPr>
              <a:t>TensorRT 7.118 ms
PyTorch 대비 약 4.11×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0416" y="1901952"/>
            <a:ext cx="3401568" cy="1965960"/>
          </a:xfrm>
          <a:prstGeom prst="roundRect">
            <a:avLst/>
          </a:prstGeom>
          <a:solidFill>
            <a:srgbClr val="10263B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00416" y="1901952"/>
            <a:ext cx="64008" cy="1965960"/>
          </a:xfrm>
          <a:prstGeom prst="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2103120"/>
            <a:ext cx="2990088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FB7185"/>
                </a:solidFill>
                <a:latin typeface="Apple SD Gothic Ne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724912"/>
            <a:ext cx="29900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8FAFC"/>
                </a:solidFill>
                <a:latin typeface="Apple SD Gothic Neo"/>
              </a:rPr>
              <a:t>운영 이벤트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3163824"/>
            <a:ext cx="2962656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1A4B7"/>
                </a:solidFill>
                <a:latin typeface="Apple SD Gothic Neo"/>
              </a:rPr>
              <a:t>서버 룰·수명주기·증거 클립
탐지에서 관제까지 연결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43891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2DD4BF"/>
                </a:solidFill>
                <a:latin typeface="Apple SD Gothic Neo"/>
              </a:rPr>
              <a:t>배운 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4736592"/>
            <a:ext cx="653796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F8FAFC"/>
                </a:solidFill>
                <a:latin typeface="Apple SD Gothic Neo"/>
              </a:rPr>
              <a:t>정확도·속도·운영 구조를 따로 최적화하는 것이 아니라,
현장의 ‘놓치지 않아야 하는 위험’을 기준으로 하나의 시스템으로 설계해야 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43891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59E0B"/>
                </a:solidFill>
                <a:latin typeface="Apple SD Gothic Neo"/>
              </a:rPr>
              <a:t>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2" y="4736592"/>
            <a:ext cx="34290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DCE7F3"/>
                </a:solidFill>
                <a:latin typeface="Apple SD Gothic Neo"/>
              </a:rPr>
              <a:t>야간·역광 데이터 강건성
Tiling / P2 Head 비교
Pruning·Quantization
메시지 큐·외부 DB 확장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41664" y="6053328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1">
                <a:solidFill>
                  <a:srgbClr val="67E8F9"/>
                </a:solidFill>
                <a:latin typeface="Apple SD Gothic Neo"/>
              </a:rPr>
              <a:t>감사합니다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65392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57C91"/>
                </a:solidFill>
                <a:latin typeface="Apple SD Gothic Neo"/>
              </a:rPr>
              <a:t>Industrial Safety AI Monitoring Service · 이동현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1064</Words>
  <Application>Microsoft Macintosh PowerPoint</Application>
  <PresentationFormat>와이드스크린</PresentationFormat>
  <Paragraphs>259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Apple SD Gothic Neo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Safety AI Monitoring Service</dc:title>
  <dc:subject>취업 포트폴리오</dc:subject>
  <dc:creator>이동현</dc:creator>
  <cp:keywords>YOLO, TensorRT, FastAPI, Flutter, 산업 안전, 포트폴리오</cp:keywords>
  <dc:description>README 및 프로젝트 연구보고서를 기반으로 제작</dc:description>
  <cp:lastModifiedBy>이동현</cp:lastModifiedBy>
  <cp:revision>5</cp:revision>
  <dcterms:created xsi:type="dcterms:W3CDTF">2013-01-27T09:14:16Z</dcterms:created>
  <dcterms:modified xsi:type="dcterms:W3CDTF">2026-09-05T09:53:08Z</dcterms:modified>
  <cp:category/>
</cp:coreProperties>
</file>