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2596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a38200-pixel/Industrial_Safety_AI_Monitoring_Service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v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B">
              <a:alpha val="78000"/>
            </a:srgbClr>
          </a:solidFill>
          <a:ln w="12700">
            <a:solidFill>
              <a:srgbClr val="0B1B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이동현  |  취업 포트폴리오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144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Industrial Safety</a:t>
            </a:r>
            <a:endParaRPr lang="en-US" sz="42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Monitoring Service</a:t>
            </a:r>
            <a:endParaRPr lang="en-US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4688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DCE7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 기반 엣지 추론과 중앙 이벤트 판정을 결합한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DCE7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산업 안전 모니터링 시스템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3337560"/>
            <a:ext cx="3931920" cy="402336"/>
          </a:xfrm>
          <a:prstGeom prst="roundRect">
            <a:avLst>
              <a:gd name="adj" fmla="val 50000"/>
            </a:avLst>
          </a:prstGeom>
          <a:solidFill>
            <a:srgbClr val="10263B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333756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미래내일일경험 · (주)하이버스 연계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17720" y="3337560"/>
            <a:ext cx="3758184" cy="402336"/>
          </a:xfrm>
          <a:prstGeom prst="roundRect">
            <a:avLst>
              <a:gd name="adj" fmla="val 50000"/>
            </a:avLst>
          </a:prstGeom>
          <a:solidFill>
            <a:srgbClr val="10263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4617720" y="3337560"/>
            <a:ext cx="3758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2026.5.4 ~ 7.3 (8주)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513064" y="3337560"/>
            <a:ext cx="2020824" cy="402336"/>
          </a:xfrm>
          <a:prstGeom prst="roundRect">
            <a:avLst>
              <a:gd name="adj" fmla="val 50000"/>
            </a:avLst>
          </a:prstGeom>
          <a:solidFill>
            <a:srgbClr val="10263B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8513064" y="3337560"/>
            <a:ext cx="2020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프로젝트 4인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931920"/>
            <a:ext cx="11094415" cy="777240"/>
          </a:xfrm>
          <a:prstGeom prst="roundRect">
            <a:avLst>
              <a:gd name="adj" fmla="val 14118"/>
            </a:avLst>
          </a:prstGeom>
          <a:solidFill>
            <a:srgbClr val="10263B"/>
          </a:solidFill>
          <a:ln w="15875">
            <a:solidFill>
              <a:srgbClr val="2843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822960" y="393192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   </a:t>
            </a:r>
            <a:r>
              <a:rPr lang="en-US" sz="16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다수의 CCTV를 사람이 지속적으로 확인하는 방식은 위험 상황의 즉시 발견과 증거 확보에 한계가 있음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98348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194560" y="4983480"/>
            <a:ext cx="1097280" cy="402336"/>
          </a:xfrm>
          <a:prstGeom prst="roundRect">
            <a:avLst>
              <a:gd name="adj" fmla="val 50000"/>
            </a:avLst>
          </a:prstGeom>
          <a:solidFill>
            <a:srgbClr val="10263B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2194560" y="498348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YOLO26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401568" y="4983480"/>
            <a:ext cx="1211580" cy="402336"/>
          </a:xfrm>
          <a:prstGeom prst="roundRect">
            <a:avLst>
              <a:gd name="adj" fmla="val 50000"/>
            </a:avLst>
          </a:prstGeom>
          <a:solidFill>
            <a:srgbClr val="10263B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3401568" y="4983480"/>
            <a:ext cx="12115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PyTorch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722876" y="4983480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10263B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4722876" y="498348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ONNX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701284" y="4983480"/>
            <a:ext cx="1325880" cy="402336"/>
          </a:xfrm>
          <a:prstGeom prst="roundRect">
            <a:avLst>
              <a:gd name="adj" fmla="val 50000"/>
            </a:avLst>
          </a:prstGeom>
          <a:solidFill>
            <a:srgbClr val="10263B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5701284" y="498348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TensorRT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136892" y="4983480"/>
            <a:ext cx="1097280" cy="402336"/>
          </a:xfrm>
          <a:prstGeom prst="roundRect">
            <a:avLst>
              <a:gd name="adj" fmla="val 50000"/>
            </a:avLst>
          </a:prstGeom>
          <a:solidFill>
            <a:srgbClr val="10263B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7136892" y="498348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OpenCV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2194560" y="5486400"/>
            <a:ext cx="1097280" cy="402336"/>
          </a:xfrm>
          <a:prstGeom prst="roundRect">
            <a:avLst>
              <a:gd name="adj" fmla="val 50000"/>
            </a:avLst>
          </a:prstGeom>
          <a:solidFill>
            <a:srgbClr val="10263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2194560" y="54864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3401568" y="5486400"/>
            <a:ext cx="1211580" cy="402336"/>
          </a:xfrm>
          <a:prstGeom prst="roundRect">
            <a:avLst>
              <a:gd name="adj" fmla="val 50000"/>
            </a:avLst>
          </a:prstGeom>
          <a:solidFill>
            <a:srgbClr val="10263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3401568" y="5486400"/>
            <a:ext cx="12115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4722876" y="5486400"/>
            <a:ext cx="1440180" cy="402336"/>
          </a:xfrm>
          <a:prstGeom prst="roundRect">
            <a:avLst>
              <a:gd name="adj" fmla="val 50000"/>
            </a:avLst>
          </a:prstGeom>
          <a:solidFill>
            <a:srgbClr val="10263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4722876" y="5486400"/>
            <a:ext cx="14401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272784" y="5486400"/>
            <a:ext cx="1097280" cy="402336"/>
          </a:xfrm>
          <a:prstGeom prst="roundRect">
            <a:avLst>
              <a:gd name="adj" fmla="val 50000"/>
            </a:avLst>
          </a:prstGeom>
          <a:solidFill>
            <a:srgbClr val="10263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6272784" y="54864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7479792" y="5486400"/>
            <a:ext cx="1211580" cy="402336"/>
          </a:xfrm>
          <a:prstGeom prst="roundRect">
            <a:avLst>
              <a:gd name="adj" fmla="val 50000"/>
            </a:avLst>
          </a:prstGeom>
          <a:solidFill>
            <a:srgbClr val="10263B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 txBox="1"/>
          <p:nvPr/>
        </p:nvSpPr>
        <p:spPr>
          <a:xfrm>
            <a:off x="7479792" y="5486400"/>
            <a:ext cx="12115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Flutter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8801100" y="5486400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10263B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 txBox="1"/>
          <p:nvPr/>
        </p:nvSpPr>
        <p:spPr>
          <a:xfrm>
            <a:off x="8801100" y="548640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 </a:t>
            </a:r>
            <a:r>
              <a:rPr lang="en-US" sz="1600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github.com/a38200-pixel/Industrial_Safety_AI_Monitoring_Service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7909560" cy="530352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2843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7818120" cy="5212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04935" y="3061543"/>
            <a:ext cx="1608415" cy="335935"/>
          </a:xfrm>
          <a:prstGeom prst="roundRect">
            <a:avLst>
              <a:gd name="adj" fmla="val 16332"/>
            </a:avLst>
          </a:prstGeom>
          <a:solidFill>
            <a:srgbClr val="2DD4BF">
              <a:alpha val="0"/>
            </a:srgbClr>
          </a:solidFill>
          <a:ln w="381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776919" y="2933527"/>
            <a:ext cx="274320" cy="2743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6919" y="293352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658243" y="5321469"/>
            <a:ext cx="1033254" cy="875467"/>
          </a:xfrm>
          <a:prstGeom prst="roundRect">
            <a:avLst>
              <a:gd name="adj" fmla="val 6267"/>
            </a:avLst>
          </a:prstGeom>
          <a:solidFill>
            <a:srgbClr val="2DD4BF">
              <a:alpha val="0"/>
            </a:srgbClr>
          </a:solidFill>
          <a:ln w="381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545193" y="5193453"/>
            <a:ext cx="274320" cy="2743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2545193" y="519345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740021" y="3061543"/>
            <a:ext cx="1781473" cy="661690"/>
          </a:xfrm>
          <a:prstGeom prst="roundRect">
            <a:avLst>
              <a:gd name="adj" fmla="val 8291"/>
            </a:avLst>
          </a:prstGeom>
          <a:solidFill>
            <a:srgbClr val="F59E0B">
              <a:alpha val="0"/>
            </a:srgbClr>
          </a:solidFill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3612005" y="2933527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3612005" y="293352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948708" y="5321469"/>
            <a:ext cx="870377" cy="875467"/>
          </a:xfrm>
          <a:prstGeom prst="roundRect">
            <a:avLst>
              <a:gd name="adj" fmla="val 6303"/>
            </a:avLst>
          </a:prstGeom>
          <a:solidFill>
            <a:srgbClr val="F59E0B">
              <a:alpha val="0"/>
            </a:srgbClr>
          </a:solidFill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672780" y="5193453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4672780" y="519345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925973" y="5321469"/>
            <a:ext cx="1129963" cy="875467"/>
          </a:xfrm>
          <a:prstGeom prst="roundRect">
            <a:avLst>
              <a:gd name="adj" fmla="val 6267"/>
            </a:avLst>
          </a:prstGeom>
          <a:solidFill>
            <a:srgbClr val="F59E0B">
              <a:alpha val="0"/>
            </a:srgbClr>
          </a:solidFill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5909631" y="5193453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5909631" y="519345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732520" y="1307592"/>
            <a:ext cx="2910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담당한 영역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732520" y="1783080"/>
            <a:ext cx="2910535" cy="2103120"/>
          </a:xfrm>
          <a:prstGeom prst="roundRect">
            <a:avLst>
              <a:gd name="adj" fmla="val 5217"/>
            </a:avLst>
          </a:prstGeom>
          <a:solidFill>
            <a:srgbClr val="10263B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8961120" y="2011680"/>
            <a:ext cx="347472" cy="34747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896112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9418320" y="2011680"/>
            <a:ext cx="2041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961120" y="2560320"/>
            <a:ext cx="2499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 전처리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선정 · 학습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ONNX → TensorRT 배포 최적화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732520" y="4069080"/>
            <a:ext cx="2910535" cy="2468880"/>
          </a:xfrm>
          <a:prstGeom prst="roundRect">
            <a:avLst>
              <a:gd name="adj" fmla="val 4444"/>
            </a:avLst>
          </a:prstGeom>
          <a:solidFill>
            <a:srgbClr val="10263B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8961120" y="4297680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8961120" y="4297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9418320" y="4297680"/>
            <a:ext cx="2041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이벤트 룰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961120" y="4846320"/>
            <a:ext cx="24990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NO_HELMET · DANGER_ZONE 판정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START–END 수명주기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후보 병합 · 누락 보정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 · 전처리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393338" cy="1828800"/>
          </a:xfrm>
          <a:prstGeom prst="roundRect">
            <a:avLst>
              <a:gd name="adj" fmla="val 6000"/>
            </a:avLst>
          </a:prstGeom>
          <a:solidFill>
            <a:srgbClr val="10263B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55448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Hub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2844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75,000장</a:t>
            </a:r>
            <a:endParaRPr lang="en-US" sz="3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 설비 공사 현장 위험 상태 판단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941978" y="18288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4399178" y="1371600"/>
            <a:ext cx="3393338" cy="1828800"/>
          </a:xfrm>
          <a:prstGeom prst="roundRect">
            <a:avLst>
              <a:gd name="adj" fmla="val 6000"/>
            </a:avLst>
          </a:prstGeom>
          <a:solidFill>
            <a:srgbClr val="10263B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4673498" y="155448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Kaggle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673498" y="1965960"/>
            <a:ext cx="2844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2,000장</a:t>
            </a:r>
            <a:endParaRPr lang="en-US" sz="3500" dirty="0"/>
          </a:p>
        </p:txBody>
      </p:sp>
      <p:sp>
        <p:nvSpPr>
          <p:cNvPr id="11" name="Text 9"/>
          <p:cNvSpPr txBox="1"/>
          <p:nvPr/>
        </p:nvSpPr>
        <p:spPr>
          <a:xfrm>
            <a:off x="4673498" y="2697480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산업현장 배경 이미지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92517" y="18288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</a:t>
            </a:r>
            <a:endParaRPr lang="en-US" sz="2900" dirty="0"/>
          </a:p>
        </p:txBody>
      </p:sp>
      <p:sp>
        <p:nvSpPr>
          <p:cNvPr id="13" name="Shape 11"/>
          <p:cNvSpPr/>
          <p:nvPr/>
        </p:nvSpPr>
        <p:spPr>
          <a:xfrm>
            <a:off x="8249717" y="1371600"/>
            <a:ext cx="3393338" cy="1828800"/>
          </a:xfrm>
          <a:prstGeom prst="roundRect">
            <a:avLst>
              <a:gd name="adj" fmla="val 6000"/>
            </a:avLst>
          </a:prstGeom>
          <a:solidFill>
            <a:srgbClr val="10263B"/>
          </a:solidFill>
          <a:ln w="15875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524037" y="155448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524037" y="1965960"/>
            <a:ext cx="2844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5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77,000장</a:t>
            </a:r>
            <a:endParaRPr lang="en-US" sz="3500" dirty="0"/>
          </a:p>
        </p:txBody>
      </p:sp>
      <p:sp>
        <p:nvSpPr>
          <p:cNvPr id="16" name="Text 14"/>
          <p:cNvSpPr txBox="1"/>
          <p:nvPr/>
        </p:nvSpPr>
        <p:spPr>
          <a:xfrm>
            <a:off x="8524037" y="2697480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학습 데이터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2499284" cy="1005840"/>
          </a:xfrm>
          <a:prstGeom prst="roundRect">
            <a:avLst>
              <a:gd name="adj" fmla="val 10909"/>
            </a:avLst>
          </a:prstGeom>
          <a:solidFill>
            <a:srgbClr val="10263B"/>
          </a:solidFill>
          <a:ln w="15875">
            <a:solidFill>
              <a:srgbClr val="2843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731520" y="342900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</a:t>
            </a: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Hub 분할 압축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병합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047924" y="36118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413684" y="3429000"/>
            <a:ext cx="2499284" cy="1005840"/>
          </a:xfrm>
          <a:prstGeom prst="roundRect">
            <a:avLst>
              <a:gd name="adj" fmla="val 10909"/>
            </a:avLst>
          </a:prstGeom>
          <a:solidFill>
            <a:srgbClr val="10263B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3596564" y="342900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</a:t>
            </a: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안전모 착용·미착용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· 라벨 추출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912968" y="36118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6278728" y="3429000"/>
            <a:ext cx="2499284" cy="1005840"/>
          </a:xfrm>
          <a:prstGeom prst="roundRect">
            <a:avLst>
              <a:gd name="adj" fmla="val 10909"/>
            </a:avLst>
          </a:prstGeom>
          <a:solidFill>
            <a:srgbClr val="10263B"/>
          </a:solidFill>
          <a:ln w="15875">
            <a:solidFill>
              <a:srgbClr val="2843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6461608" y="342900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</a:t>
            </a: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 txt 형식으로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변환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778011" y="36118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143771" y="3429000"/>
            <a:ext cx="2499284" cy="1005840"/>
          </a:xfrm>
          <a:prstGeom prst="roundRect">
            <a:avLst>
              <a:gd name="adj" fmla="val 10909"/>
            </a:avLst>
          </a:prstGeom>
          <a:solidFill>
            <a:srgbClr val="10263B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9326651" y="342900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</a:t>
            </a: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Person 자동 라벨링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(YOLOv8x)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5135728" cy="1737360"/>
          </a:xfrm>
          <a:prstGeom prst="roundRect">
            <a:avLst>
              <a:gd name="adj" fmla="val 6316"/>
            </a:avLst>
          </a:prstGeom>
          <a:solidFill>
            <a:srgbClr val="10263B"/>
          </a:solidFill>
          <a:ln w="15875">
            <a:solidFill>
              <a:srgbClr val="2843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822960" y="4846320"/>
            <a:ext cx="458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· 모델 크기 비교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5394960"/>
            <a:ext cx="467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2개 : 안전모 착용 · 미착용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Person 미학습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이미지 없음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507328" y="4663440"/>
            <a:ext cx="5135728" cy="1737360"/>
          </a:xfrm>
          <a:prstGeom prst="roundRect">
            <a:avLst>
              <a:gd name="adj" fmla="val 6316"/>
            </a:avLst>
          </a:prstGeom>
          <a:solidFill>
            <a:srgbClr val="10263B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6781648" y="4846320"/>
            <a:ext cx="458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학습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781648" y="5394960"/>
            <a:ext cx="467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3개 : Person · 안전모 착용 · 미착용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이미지 2,000장 포함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77,000장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684368" y="51663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선정 · 학습 조건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· 모델 크기 비교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안전모 2클래스 · 배경 없음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325880"/>
            <a:ext cx="5242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· 학습 조건 비교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691640"/>
            <a:ext cx="5242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데이터 · Person 포함 3클래스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5486400" cy="2267712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9B8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9B8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Recall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9B8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F1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9B8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추론 ms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YOLO26n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0.5741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0.6982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10.6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YOLO26s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0.5885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0.7129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17.8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YOLO26l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0.5964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0.7200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28.8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194560"/>
          <a:ext cx="5242255" cy="2267712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4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9B8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9B8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Recall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9B8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F1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9B8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FN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B16 AdamW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0.6553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0.7410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6,482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B32 AdamW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0.6650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0.7467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6,300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B32 MuSGD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0.6567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0.7413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6,457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4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035040" y="29260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548640" y="4663440"/>
            <a:ext cx="5486400" cy="1325880"/>
          </a:xfrm>
          <a:prstGeom prst="roundRect">
            <a:avLst>
              <a:gd name="adj" fmla="val 8276"/>
            </a:avLst>
          </a:prstGeom>
          <a:solidFill>
            <a:srgbClr val="10263B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 txBox="1"/>
          <p:nvPr/>
        </p:nvSpPr>
        <p:spPr>
          <a:xfrm>
            <a:off x="822960" y="4800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YOLO26l 선정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530352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 · F1 최고, 추론 28.8 ms로 실시간(30 FPS) 기준 충족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400800" y="4663440"/>
            <a:ext cx="5242255" cy="1325880"/>
          </a:xfrm>
          <a:prstGeom prst="roundRect">
            <a:avLst>
              <a:gd name="adj" fmla="val 8276"/>
            </a:avLst>
          </a:prstGeom>
          <a:solidFill>
            <a:srgbClr val="10263B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6675120" y="4800600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B32 · AdamW 선정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675120" y="5303520"/>
            <a:ext cx="46936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미탐(FN) 6,300건으로 최소, Recall · F1 최고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126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1단계와 2단계는 데이터 구성이 달라 수치를 직접 비교하지 않음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TensorRT 최적화 (FP16)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840480" cy="3611880"/>
          </a:xfrm>
          <a:prstGeom prst="roundRect">
            <a:avLst>
              <a:gd name="adj" fmla="val 3038"/>
            </a:avLst>
          </a:prstGeom>
          <a:solidFill>
            <a:srgbClr val="10263B"/>
          </a:solidFill>
          <a:ln w="15875">
            <a:solidFill>
              <a:srgbClr val="2843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가속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4.11×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PyTorch 대비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TensorRT FP16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6933895" cy="3611880"/>
          </a:xfrm>
          <a:prstGeom prst="roundRect">
            <a:avLst>
              <a:gd name="adj" fmla="val 3038"/>
            </a:avLst>
          </a:prstGeom>
          <a:solidFill>
            <a:srgbClr val="10263B"/>
          </a:solidFill>
          <a:ln w="15875">
            <a:solidFill>
              <a:srgbClr val="2843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4983480" y="1645920"/>
            <a:ext cx="6385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시간 (ms) · 낮을수록 빠름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PyTorch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086600" y="2441448"/>
            <a:ext cx="2743200" cy="329184"/>
          </a:xfrm>
          <a:prstGeom prst="roundRect">
            <a:avLst>
              <a:gd name="adj" fmla="val 16667"/>
            </a:avLst>
          </a:prstGeom>
          <a:solidFill>
            <a:srgbClr val="5B7189"/>
          </a:solidFill>
          <a:ln w="12700">
            <a:solidFill>
              <a:srgbClr val="5B718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9966960" y="2377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29.3 ms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ONNX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086600" y="3264408"/>
            <a:ext cx="1374645" cy="329184"/>
          </a:xfrm>
          <a:prstGeom prst="roundRect">
            <a:avLst>
              <a:gd name="adj" fmla="val 16667"/>
            </a:avLst>
          </a:prstGeom>
          <a:solidFill>
            <a:srgbClr val="5B7189"/>
          </a:solidFill>
          <a:ln w="12700">
            <a:solidFill>
              <a:srgbClr val="5B718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9966960" y="3200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14.7 ms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4023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TensorRT FP16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86600" y="4087368"/>
            <a:ext cx="666989" cy="329184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9966960" y="4023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7.1 ms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11094415" cy="777240"/>
          </a:xfrm>
          <a:prstGeom prst="roundRect">
            <a:avLst>
              <a:gd name="adj" fmla="val 14118"/>
            </a:avLst>
          </a:prstGeom>
          <a:solidFill>
            <a:srgbClr val="10263B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868680" y="525780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구동 환경  </a:t>
            </a:r>
            <a:r>
              <a:rPr lang="en-US" sz="19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추론 8.35 ms/frame  ≈  119.8 FPS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172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YOLO26l · FP16 엔진 기준. FPS는 모델 추론 시간에서 역산한 값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판정 룰 · 증거 클립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1600200"/>
          </a:xfrm>
          <a:prstGeom prst="roundRect">
            <a:avLst>
              <a:gd name="adj" fmla="val 6857"/>
            </a:avLst>
          </a:prstGeom>
          <a:solidFill>
            <a:srgbClr val="10263B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868680" y="169164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NO_HELMET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33172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NO_Helmet  →  </a:t>
            </a: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WARNING 이벤트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1600200"/>
          </a:xfrm>
          <a:prstGeom prst="roundRect">
            <a:avLst>
              <a:gd name="adj" fmla="val 6857"/>
            </a:avLst>
          </a:prstGeom>
          <a:solidFill>
            <a:srgbClr val="10263B"/>
          </a:solidFill>
          <a:ln w="15875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598768" y="169164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DANGER_ZONE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33172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Person ∩ ROI  →  </a:t>
            </a:r>
            <a:r>
              <a:rPr lang="en-US" sz="1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DANGER 이벤트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수명주기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2331720" cy="1097280"/>
          </a:xfrm>
          <a:prstGeom prst="roundRect">
            <a:avLst>
              <a:gd name="adj" fmla="val 10000"/>
            </a:avLst>
          </a:prstGeom>
          <a:solidFill>
            <a:srgbClr val="10263B"/>
          </a:solidFill>
          <a:ln w="15875">
            <a:solidFill>
              <a:srgbClr val="2843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31520" y="395020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CANDIDATE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389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룰 조건 확인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4114800"/>
            <a:ext cx="589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3469538" y="3840480"/>
            <a:ext cx="2331720" cy="1097280"/>
          </a:xfrm>
          <a:prstGeom prst="roundRect">
            <a:avLst>
              <a:gd name="adj" fmla="val 10000"/>
            </a:avLst>
          </a:prstGeom>
          <a:solidFill>
            <a:srgbClr val="10263B"/>
          </a:solidFill>
          <a:ln w="15875">
            <a:solidFill>
              <a:srgbClr val="2843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3652418" y="395020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652418" y="4389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생성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801258" y="4114800"/>
            <a:ext cx="589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390437" y="3840480"/>
            <a:ext cx="2331720" cy="1097280"/>
          </a:xfrm>
          <a:prstGeom prst="roundRect">
            <a:avLst>
              <a:gd name="adj" fmla="val 10000"/>
            </a:avLst>
          </a:prstGeom>
          <a:solidFill>
            <a:srgbClr val="10263B"/>
          </a:solidFill>
          <a:ln w="15875">
            <a:solidFill>
              <a:srgbClr val="2843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6573317" y="395020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ACTIVE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573317" y="4389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 탐지 병합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722157" y="4114800"/>
            <a:ext cx="589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311335" y="3840480"/>
            <a:ext cx="2331720" cy="1097280"/>
          </a:xfrm>
          <a:prstGeom prst="roundRect">
            <a:avLst>
              <a:gd name="adj" fmla="val 10000"/>
            </a:avLst>
          </a:prstGeom>
          <a:solidFill>
            <a:srgbClr val="10263B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9494215" y="395020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494215" y="4389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클립 생성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10263B"/>
          </a:solidFill>
          <a:ln w="15875">
            <a:solidFill>
              <a:srgbClr val="2843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868680" y="5486400"/>
            <a:ext cx="104543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 클립  </a:t>
            </a:r>
            <a:r>
              <a:rPr lang="en-US" sz="18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구간 START −3s ~ END +1s  ·  MP4 + JPG 썸네일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룰이 바뀌어도 당시 ROI·detection을 재현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화면 · 한계와 개선</a:t>
            </a:r>
            <a:endParaRPr lang="en-US" sz="3000" dirty="0"/>
          </a:p>
        </p:txBody>
      </p:sp>
      <p:pic>
        <p:nvPicPr>
          <p:cNvPr id="3" name="Image 0" descr="view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242190" cy="35204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371600"/>
            <a:ext cx="6242190" cy="3520440"/>
          </a:xfrm>
          <a:prstGeom prst="rect">
            <a:avLst/>
          </a:prstGeom>
          <a:solidFill>
            <a:srgbClr val="0B1B2B">
              <a:alpha val="0"/>
            </a:srgbClr>
          </a:solidFill>
          <a:ln w="15875">
            <a:solidFill>
              <a:srgbClr val="2843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4983480"/>
            <a:ext cx="62421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YOLO26l + TensorRT 클라이언트 기준 실제 구동 화면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110870" y="1371600"/>
            <a:ext cx="4532185" cy="1691640"/>
          </a:xfrm>
          <a:prstGeom prst="roundRect">
            <a:avLst>
              <a:gd name="adj" fmla="val 6486"/>
            </a:avLst>
          </a:prstGeom>
          <a:solidFill>
            <a:srgbClr val="10263B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385190" y="1554480"/>
            <a:ext cx="39835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한계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85190" y="2057400"/>
            <a:ext cx="407498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 · 역광 · 악천후 데이터 부족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TensorRT 엔진은 GPU · 버전별 재빌드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 · 메모리 버퍼는 프로토타입 규모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110870" y="3200400"/>
            <a:ext cx="4532185" cy="1691640"/>
          </a:xfrm>
          <a:prstGeom prst="roundRect">
            <a:avLst>
              <a:gd name="adj" fmla="val 6486"/>
            </a:avLst>
          </a:prstGeom>
          <a:solidFill>
            <a:srgbClr val="10263B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7385190" y="3383280"/>
            <a:ext cx="39835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과제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385190" y="3886200"/>
            <a:ext cx="407498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고해상도 입력 · Tiling · P2 Head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Pruning · Quantization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큐 · 외부 DB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548640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10263B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68680" y="548640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점  </a:t>
            </a:r>
            <a:r>
              <a:rPr lang="en-US" sz="16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· 속도 · 운영 </a:t>
            </a:r>
            <a:r>
              <a:rPr lang="en-US" sz="1600" dirty="0" err="1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구조를</a:t>
            </a:r>
            <a:r>
              <a:rPr lang="en-US" sz="16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설계한 </a:t>
            </a:r>
            <a:r>
              <a:rPr lang="en-US" sz="1600" dirty="0" err="1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r>
              <a:rPr lang="ko-KR" altLang="en-US" sz="16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점을 중심</a:t>
            </a:r>
            <a:r>
              <a:rPr lang="en-US" sz="1600" dirty="0" err="1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r>
              <a:rPr lang="en-US" sz="16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하나의 시스템으로 설계해야 합니다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544</Words>
  <Application>Microsoft Office PowerPoint</Application>
  <PresentationFormat>와이드스크린</PresentationFormat>
  <Paragraphs>165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Malgun Gothic</vt:lpstr>
      <vt:lpstr>Arial</vt:lpstr>
      <vt:lpstr>Office Theme</vt:lpstr>
      <vt:lpstr>PowerPoint 프레젠테이션</vt:lpstr>
      <vt:lpstr>시스템 아키텍처</vt:lpstr>
      <vt:lpstr>데이터셋 · 전처리</vt:lpstr>
      <vt:lpstr>모델 선정 · 학습 조건</vt:lpstr>
      <vt:lpstr>TensorRT 최적화 (FP16)</vt:lpstr>
      <vt:lpstr>이벤트 판정 룰 · 증거 클립</vt:lpstr>
      <vt:lpstr>실제 화면 · 한계와 개선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Safety AI Monitoring Service</dc:title>
  <dc:subject>PptxGenJS Presentation</dc:subject>
  <dc:creator>이동현</dc:creator>
  <cp:lastModifiedBy>이동현</cp:lastModifiedBy>
  <cp:revision>2</cp:revision>
  <dcterms:created xsi:type="dcterms:W3CDTF">2026-10-16T08:37:26Z</dcterms:created>
  <dcterms:modified xsi:type="dcterms:W3CDTF">2026-10-18T04:46:35Z</dcterms:modified>
</cp:coreProperties>
</file>