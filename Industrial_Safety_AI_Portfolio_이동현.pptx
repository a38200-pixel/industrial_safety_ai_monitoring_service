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ustrial_ai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68" y="658368"/>
            <a:ext cx="73152" cy="5440680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786384"/>
            <a:ext cx="2395728" cy="292608"/>
          </a:xfrm>
          <a:prstGeom prst="roundRect">
            <a:avLst/>
          </a:prstGeom>
          <a:solidFill>
            <a:srgbClr val="16344C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804672"/>
            <a:ext cx="239572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2DD4BF"/>
                </a:solidFill>
                <a:latin typeface="Apple SD Gothic Neo"/>
              </a:rPr>
              <a:t>AI · COMPUTER VISION ·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25880"/>
            <a:ext cx="548640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>
                <a:solidFill>
                  <a:srgbClr val="F8FAFC"/>
                </a:solidFill>
                <a:latin typeface="Apple SD Gothic Neo"/>
              </a:rPr>
              <a:t>Industrial Safety
AI Monitoring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CE7F3"/>
                </a:solidFill>
                <a:latin typeface="Apple SD Gothic Neo"/>
              </a:rPr>
              <a:t>YOLO 기반 엣지 추론과 중앙 이벤트 판정을 결합한
실시간 산업 안전 모니터링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57800"/>
            <a:ext cx="53035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1">
                <a:solidFill>
                  <a:srgbClr val="F8FAFC"/>
                </a:solidFill>
                <a:latin typeface="Apple SD Gothic Neo"/>
              </a:rPr>
              <a:t>이동현</a:t>
            </a:r>
            <a:r>
              <a:rPr sz="1300" b="0">
                <a:solidFill>
                  <a:srgbClr val="91A4B7"/>
                </a:solidFill>
                <a:latin typeface="Apple SD Gothic Neo"/>
              </a:rPr>
              <a:t>  |  한국폴리텍대학 인공지능소프트웨어과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70585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취업 포트폴리오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녹화 중심 CCTV를 ‘행동 가능한 안전 이벤트’로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1874519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B7185"/>
                </a:solidFill>
                <a:latin typeface="Apple SD Gothic Neo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21992"/>
            <a:ext cx="48006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F8FAFC"/>
                </a:solidFill>
                <a:latin typeface="Apple SD Gothic Neo"/>
              </a:rPr>
              <a:t>다수의 CCTV를 사람이 계속 확인하는 방식은
위험 상황의 즉시 발견과 증거 확보에 한계가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015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2DD4BF"/>
                </a:solidFill>
                <a:latin typeface="Apple SD Gothic Neo"/>
              </a:rPr>
              <a:t>해결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749039"/>
            <a:ext cx="5074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DCE7F3"/>
                </a:solidFill>
                <a:latin typeface="Apple SD Gothic Neo"/>
              </a:rPr>
              <a:t>엣지 PC가 객체를 탐지하고 중앙 서버가 현장 룰을 적용해
이벤트·썸네일·클립으로 기록하는 모니터링 파이프라인을 구현했습니다.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74519"/>
            <a:ext cx="1664208" cy="3493008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64008" cy="3493008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2075687"/>
            <a:ext cx="125272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DD4BF"/>
                </a:solidFill>
                <a:latin typeface="Apple SD Gothic Ne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697479"/>
            <a:ext cx="12527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탐지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136391"/>
            <a:ext cx="1225296" cy="2066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작업자
안전모 착용
안전모 미착용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874519"/>
            <a:ext cx="1664208" cy="3493008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63840" y="1874519"/>
            <a:ext cx="64008" cy="349300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075687"/>
            <a:ext cx="125272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59E0B"/>
                </a:solidFill>
                <a:latin typeface="Apple SD Gothic Neo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2" y="2697479"/>
            <a:ext cx="12527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판정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872" y="3136391"/>
            <a:ext cx="1225296" cy="2066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NO_HELMET
DANGER_ZONE
START–END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1874519"/>
            <a:ext cx="1664208" cy="3493008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46920" y="1874519"/>
            <a:ext cx="64008" cy="349300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2952" y="2075687"/>
            <a:ext cx="125272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B7185"/>
                </a:solidFill>
                <a:latin typeface="Apple SD Gothic Neo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2952" y="2697479"/>
            <a:ext cx="12527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관제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2952" y="3136391"/>
            <a:ext cx="1225296" cy="2066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실시간 화면
이벤트 로그
클립 재생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MY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내가 맡은 두 가지 핵심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91A4B7"/>
                </a:solidFill>
                <a:latin typeface="Apple SD Gothic Neo"/>
              </a:rPr>
              <a:t>모델 정확도만이 아니라 실제 서비스에서 이벤트가 생성되는 지점까지 책임졌습니다.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58368" y="1874519"/>
            <a:ext cx="5257800" cy="4096512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64008" cy="4096512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75687"/>
            <a:ext cx="48463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DD4BF"/>
                </a:solidFill>
                <a:latin typeface="Apple SD Gothic Neo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79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AI 모델 선정·배포 최적화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36391"/>
            <a:ext cx="4818888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• YOLO26n/s/l 성능·속도 비교
• Batch Size / Optimizer 실험
• Recall·F1·mAPₛ 중심 의사결정
• PyTorch → ONNX → TensorRT 변환
• 실제 시스템 추론 속도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874519"/>
            <a:ext cx="5257800" cy="4096512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874519"/>
            <a:ext cx="64008" cy="40965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75687"/>
            <a:ext cx="48463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59E0B"/>
                </a:solidFill>
                <a:latin typeface="Apple SD Gothic Neo"/>
              </a:rPr>
              <a:t>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79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서버 이벤트 탐지 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36391"/>
            <a:ext cx="4818888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• NO_Helmet 기반 미착용 판정
• Person–ROI 교차 기반 위험구역 판정
• 이벤트 START–END 수명주기
• 중복 후보 병합 및 누락 보정
• 당시 ROI·관련 detection 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3824" y="6126480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67E8F9"/>
                </a:solidFill>
                <a:latin typeface="Apple SD Gothic Neo"/>
              </a:rPr>
              <a:t>개인 기여의 연결점  →  탐지 결과를 운영 가능한 이벤트로 변환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추론과 운영 정책을 분리한 Client–Server–Viewer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965960"/>
            <a:ext cx="3246120" cy="3584448"/>
          </a:xfrm>
          <a:prstGeom prst="roundRect">
            <a:avLst/>
          </a:prstGeom>
          <a:solidFill>
            <a:srgbClr val="10263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3246120" cy="91440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2DD4BF"/>
                </a:solidFill>
                <a:latin typeface="Apple SD Gothic Neo"/>
              </a:rPr>
              <a:t>AI CLIENT ·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798064"/>
            <a:ext cx="2624328" cy="2331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CCTV / Webcam
↓
OpenCV Capture
↓
YOLO26l + TensorRT
↓
Tracking &amp; Upload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965960"/>
            <a:ext cx="3246120" cy="3584448"/>
          </a:xfrm>
          <a:prstGeom prst="roundRect">
            <a:avLst/>
          </a:prstGeom>
          <a:solidFill>
            <a:srgbClr val="1026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965960"/>
            <a:ext cx="3246120" cy="91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67712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59E0B"/>
                </a:solidFill>
                <a:latin typeface="Apple SD Gothic Neo"/>
              </a:rPr>
              <a:t>CENTRAL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798064"/>
            <a:ext cx="2624328" cy="2331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FastAPI / Uvicorn
↓
Rule Processor
↓
SQLite + Frame Buffer
↓
Event / Clip / 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965960"/>
            <a:ext cx="3246120" cy="3584448"/>
          </a:xfrm>
          <a:prstGeom prst="roundRect">
            <a:avLst/>
          </a:prstGeom>
          <a:solidFill>
            <a:srgbClr val="10263B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1965960"/>
            <a:ext cx="3246120" cy="91440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2267712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B7185"/>
                </a:solidFill>
                <a:latin typeface="Apple SD Gothic Neo"/>
              </a:rPr>
              <a:t>MONITORING 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798064"/>
            <a:ext cx="2624328" cy="2331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Flutter Desktop
↓
Live Monitoring
↓
Event Log / Clip
↓
Rule &amp; ROI Editor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41063" y="3767328"/>
            <a:ext cx="320041" cy="0"/>
          </a:xfrm>
          <a:prstGeom prst="line">
            <a:avLst/>
          </a:prstGeom>
          <a:ln w="2540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598664" y="3767328"/>
            <a:ext cx="320040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563624" y="5724144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탐지만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5724144"/>
            <a:ext cx="1920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67E8F9"/>
                </a:solidFill>
                <a:latin typeface="Apple SD Gothic Neo"/>
              </a:rPr>
              <a:t>유일한 이벤트 판정 주체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5724144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서버만 바라봄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END-TO-END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한 프레임이 관제 이벤트가 되기까지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2221992"/>
            <a:ext cx="1426464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423160"/>
            <a:ext cx="411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2DD4BF"/>
                </a:solidFill>
                <a:latin typeface="Apple SD Gothic Ne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8620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8FAFC"/>
                </a:solidFill>
                <a:latin typeface="Apple SD Gothic Neo"/>
              </a:rPr>
              <a:t>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7355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카메라 프레임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93392" y="3218688"/>
            <a:ext cx="155448" cy="0"/>
          </a:xfrm>
          <a:prstGeom prst="line">
            <a:avLst/>
          </a:prstGeom>
          <a:ln w="190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76272" y="2221992"/>
            <a:ext cx="1426464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3432" y="2423160"/>
            <a:ext cx="411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2DD4BF"/>
                </a:solidFill>
                <a:latin typeface="Apple SD Gothic Ne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3432" y="28620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8FAFC"/>
                </a:solidFill>
                <a:latin typeface="Apple SD Gothic Neo"/>
              </a:rPr>
              <a:t>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3432" y="327355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YOLO 탐지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02736" y="3218688"/>
            <a:ext cx="155448" cy="0"/>
          </a:xfrm>
          <a:prstGeom prst="line">
            <a:avLst/>
          </a:prstGeom>
          <a:ln w="190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785615" y="2221992"/>
            <a:ext cx="1426464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5" y="2423160"/>
            <a:ext cx="411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2DD4BF"/>
                </a:solidFill>
                <a:latin typeface="Apple SD Gothic Ne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5" y="28620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8FAFC"/>
                </a:solidFill>
                <a:latin typeface="Apple SD Gothic Neo"/>
              </a:rPr>
              <a:t>TRANSMIT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5" y="327355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Preview + Detection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12079" y="3218688"/>
            <a:ext cx="155448" cy="0"/>
          </a:xfrm>
          <a:prstGeom prst="line">
            <a:avLst/>
          </a:prstGeom>
          <a:ln w="190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94960" y="2221992"/>
            <a:ext cx="1426464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2423160"/>
            <a:ext cx="411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59E0B"/>
                </a:solidFill>
                <a:latin typeface="Apple SD Gothic Neo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8620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8FAFC"/>
                </a:solidFill>
                <a:latin typeface="Apple SD Gothic Neo"/>
              </a:rPr>
              <a:t>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327355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룰·ROI 판정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1424" y="3218688"/>
            <a:ext cx="155448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004304" y="2221992"/>
            <a:ext cx="1426464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41464" y="2423160"/>
            <a:ext cx="411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59E0B"/>
                </a:solidFill>
                <a:latin typeface="Apple SD Gothic Ne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1464" y="28620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8FAFC"/>
                </a:solidFill>
                <a:latin typeface="Apple SD Gothic Neo"/>
              </a:rPr>
              <a:t>LIFECYCLE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1464" y="327355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START–END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30768" y="3218688"/>
            <a:ext cx="155448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613648" y="2221992"/>
            <a:ext cx="1426464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0808" y="2423160"/>
            <a:ext cx="411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59E0B"/>
                </a:solidFill>
                <a:latin typeface="Apple SD Gothic Neo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0808" y="28620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8FAFC"/>
                </a:solidFill>
                <a:latin typeface="Apple SD Gothic Neo"/>
              </a:rP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0808" y="327355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DB + Clip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40112" y="3218688"/>
            <a:ext cx="155448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222992" y="2221992"/>
            <a:ext cx="1426464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60152" y="2423160"/>
            <a:ext cx="411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B7185"/>
                </a:solidFill>
                <a:latin typeface="Apple SD Gothic Neo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0152" y="286207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8FAFC"/>
                </a:solidFill>
                <a:latin typeface="Apple SD Gothic Neo"/>
              </a:rPr>
              <a:t>MONITOR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0152" y="327355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1A4B7"/>
                </a:solidFill>
                <a:latin typeface="Apple SD Gothic Neo"/>
              </a:rPr>
              <a:t>Viewer 갱신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736592"/>
            <a:ext cx="10835640" cy="950976"/>
          </a:xfrm>
          <a:prstGeom prst="roundRect">
            <a:avLst/>
          </a:prstGeom>
          <a:solidFill>
            <a:srgbClr val="0C2031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" y="5065776"/>
            <a:ext cx="1024128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1">
                <a:solidFill>
                  <a:srgbClr val="2DD4BF"/>
                </a:solidFill>
                <a:latin typeface="Apple SD Gothic Neo"/>
              </a:rPr>
              <a:t>핵심 설계  </a:t>
            </a:r>
            <a:r>
              <a:rPr sz="1500" b="0">
                <a:solidFill>
                  <a:srgbClr val="DCE7F3"/>
                </a:solidFill>
                <a:latin typeface="Apple SD Gothic Neo"/>
              </a:rPr>
              <a:t>클라이언트는 원본 영상과 GPU 추론을 소유하고, </a:t>
            </a:r>
            <a:r>
              <a:rPr sz="1500" b="1">
                <a:solidFill>
                  <a:srgbClr val="F8FAFC"/>
                </a:solidFill>
                <a:latin typeface="Apple SD Gothic Neo"/>
              </a:rPr>
              <a:t>서버는 룰·이벤트·증거 데이터를 중앙 관리</a:t>
            </a:r>
            <a:r>
              <a:rPr sz="1500" b="0">
                <a:solidFill>
                  <a:srgbClr val="DCE7F3"/>
                </a:solidFill>
                <a:latin typeface="Apple SD Gothic Neo"/>
              </a:rPr>
              <a:t>합니다.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가장 빠른 모델보다 ‘덜 놓치는 모델’을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91A4B7"/>
                </a:solidFill>
                <a:latin typeface="Apple SD Gothic Neo"/>
              </a:rPr>
              <a:t>CCTV 안전 탐지는 작은 객체와 미탐(FN)에 민감하므로 Recall·F1·mAPₛ를 함께 비교했습니다.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975104"/>
          <a:ext cx="894283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353312"/>
                <a:gridCol w="1051560"/>
                <a:gridCol w="960120"/>
                <a:gridCol w="1005840"/>
                <a:gridCol w="114300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모델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Params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GFLOPs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mAP@50-95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mAPₛ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8FAFC"/>
                          </a:solidFill>
                          <a:latin typeface="Apple SD Gothic Neo"/>
                        </a:rPr>
                        <a:t>시스템 ms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YOLO26n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2.50M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5.77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0.3767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0.2978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0.6982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0.5741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10.6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YOLO26s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9.95M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22.50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0.3873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0.3097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0.7129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0.5885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8FAFC"/>
                          </a:solidFill>
                          <a:latin typeface="Apple SD Gothic Neo"/>
                        </a:rPr>
                        <a:t>17.8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YOLO26l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26.18M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93.13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0.3933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0.5790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0.7200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0.5964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67E8F9"/>
                          </a:solidFill>
                          <a:latin typeface="Apple SD Gothic Neo"/>
                        </a:rPr>
                        <a:t>28.8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098280" y="4425696"/>
            <a:ext cx="2395728" cy="1435608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4425696"/>
            <a:ext cx="64008" cy="1435608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54312" y="4626864"/>
            <a:ext cx="198424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DD4BF"/>
                </a:solidFill>
                <a:latin typeface="Apple SD Gothic Neo"/>
              </a:rPr>
              <a:t>YOLO26l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4312" y="5248656"/>
            <a:ext cx="1984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선정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4312" y="5687568"/>
            <a:ext cx="1956816" cy="9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30 FPS 기준을 만족하면서
작은 객체 탐지가 가장 안정적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1A4B7"/>
                </a:solidFill>
                <a:latin typeface="Apple SD Gothic Neo"/>
              </a:rPr>
              <a:t>mAPₛ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80560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DCE7F3"/>
                </a:solidFill>
                <a:latin typeface="Apple SD Gothic Neo"/>
              </a:rPr>
              <a:t>YOLO26n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4517136"/>
            <a:ext cx="4937760" cy="164592"/>
          </a:xfrm>
          <a:prstGeom prst="round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53512" y="4517136"/>
            <a:ext cx="2450774" cy="164592"/>
          </a:xfrm>
          <a:prstGeom prst="round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4462272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2DD4BF"/>
                </a:solidFill>
                <a:latin typeface="Apple SD Gothic Neo"/>
              </a:rPr>
              <a:t>0.2978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956048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DCE7F3"/>
                </a:solidFill>
                <a:latin typeface="Apple SD Gothic Neo"/>
              </a:rPr>
              <a:t>YOLO26s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53512" y="4992624"/>
            <a:ext cx="4937760" cy="164592"/>
          </a:xfrm>
          <a:prstGeom prst="round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53512" y="4992624"/>
            <a:ext cx="2548707" cy="164592"/>
          </a:xfrm>
          <a:prstGeom prst="roundRect">
            <a:avLst/>
          </a:prstGeom>
          <a:solidFill>
            <a:srgbClr val="67E8F9"/>
          </a:solidFill>
          <a:ln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49377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67E8F9"/>
                </a:solidFill>
                <a:latin typeface="Apple SD Gothic Neo"/>
              </a:rPr>
              <a:t>0.3097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3153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DCE7F3"/>
                </a:solidFill>
                <a:latin typeface="Apple SD Gothic Neo"/>
              </a:rPr>
              <a:t>YOLO26l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53512" y="5468112"/>
            <a:ext cx="4937760" cy="164592"/>
          </a:xfrm>
          <a:prstGeom prst="round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53512" y="5468112"/>
            <a:ext cx="4764938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54132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F59E0B"/>
                </a:solidFill>
                <a:latin typeface="Apple SD Gothic Neo"/>
              </a:rPr>
              <a:t>0.579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10819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1A4B7"/>
                </a:solidFill>
                <a:latin typeface="Apple SD Gothic Neo"/>
              </a:rPr>
              <a:t>※ 동일 모델 크기 비교 실험군 기준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Source · YOLO26 CCTV 안전이벤트 탐지 프로젝트 연구보고서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TRAINING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YOLO26l Batch32 AdamW — 균형이 가장 좋은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47672"/>
          <a:ext cx="9326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17320"/>
                <a:gridCol w="1188720"/>
                <a:gridCol w="1143000"/>
                <a:gridCol w="1188720"/>
                <a:gridCol w="1234440"/>
                <a:gridCol w="1234440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Apple SD Gothic Neo"/>
                        </a:rPr>
                        <a:t>학습 조건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Apple SD Gothic Neo"/>
                        </a:rPr>
                        <a:t>mAP@50-95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Apple SD Gothic Neo"/>
                        </a:rPr>
                        <a:t>mAPₛ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Apple SD Gothic Neo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Apple SD Gothic Neo"/>
                        </a:rP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Apple SD Gothic Neo"/>
                        </a:rPr>
                        <a:t>TP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Apple SD Gothic Neo"/>
                        </a:rPr>
                        <a:t>FN</a:t>
                      </a:r>
                    </a:p>
                  </a:txBody>
                  <a:tcPr marL="73152" marR="73152" marT="36576" marB="36576">
                    <a:solidFill>
                      <a:srgbClr val="16344C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B16 AdamW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0.4891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0.3904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0.7410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0.6553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12,326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6,482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67E8F9"/>
                          </a:solidFill>
                          <a:latin typeface="Apple SD Gothic Neo"/>
                        </a:rPr>
                        <a:t>B32 AdamW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7E8F9"/>
                          </a:solidFill>
                          <a:latin typeface="Apple SD Gothic Neo"/>
                        </a:rPr>
                        <a:t>0.4897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7E8F9"/>
                          </a:solidFill>
                          <a:latin typeface="Apple SD Gothic Neo"/>
                        </a:rPr>
                        <a:t>0.3988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7E8F9"/>
                          </a:solidFill>
                          <a:latin typeface="Apple SD Gothic Neo"/>
                        </a:rPr>
                        <a:t>0.7467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7E8F9"/>
                          </a:solidFill>
                          <a:latin typeface="Apple SD Gothic Neo"/>
                        </a:rPr>
                        <a:t>0.6650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7E8F9"/>
                          </a:solidFill>
                          <a:latin typeface="Apple SD Gothic Neo"/>
                        </a:rPr>
                        <a:t>12,508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7E8F9"/>
                          </a:solidFill>
                          <a:latin typeface="Apple SD Gothic Neo"/>
                        </a:rPr>
                        <a:t>6,300</a:t>
                      </a:r>
                    </a:p>
                  </a:txBody>
                  <a:tcPr marL="73152" marR="73152" marT="36576" marB="36576">
                    <a:solidFill>
                      <a:srgbClr val="123B4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B32 MuSGD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0.4861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0.4083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0.7413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0.6567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12,351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8FAFC"/>
                          </a:solidFill>
                          <a:latin typeface="Apple SD Gothic Neo"/>
                        </a:rPr>
                        <a:t>6,457</a:t>
                      </a:r>
                    </a:p>
                  </a:txBody>
                  <a:tcPr marL="73152" marR="73152" marT="36576" marB="36576">
                    <a:solidFill>
                      <a:srgbClr val="1026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10195560" y="1947672"/>
            <a:ext cx="1298448" cy="224028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195560" y="1947672"/>
            <a:ext cx="64008" cy="22402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51592" y="2167128"/>
            <a:ext cx="8869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1592" y="2606040"/>
            <a:ext cx="859536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최고 TP
최저 FN
최고 F1
최고 Recall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3383280" cy="123444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572000"/>
            <a:ext cx="64008" cy="1234440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73168"/>
            <a:ext cx="29718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DD4BF"/>
                </a:solidFill>
                <a:latin typeface="Apple SD Gothic Neo"/>
              </a:rPr>
              <a:t>0.7467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F1-score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33872"/>
            <a:ext cx="2944368" cy="-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Precision과 Recall의 균형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4572000"/>
            <a:ext cx="3383280" cy="123444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64008" cy="1234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773168"/>
            <a:ext cx="29718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59E0B"/>
                </a:solidFill>
                <a:latin typeface="Apple SD Gothic Neo"/>
              </a:rPr>
              <a:t>0.6650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3949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833872"/>
            <a:ext cx="2944368" cy="-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실제 객체를 놓치지 않는 비율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90688" y="4572000"/>
            <a:ext cx="3703320" cy="123444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90688" y="4572000"/>
            <a:ext cx="64008" cy="1234440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2918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B7185"/>
                </a:solidFill>
                <a:latin typeface="Apple SD Gothic Neo"/>
              </a:rPr>
              <a:t>6,300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3949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False Negative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833872"/>
            <a:ext cx="3264408" cy="-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세 조건 중 가장 적은 미탐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Source · YOLO26 CCTV 안전이벤트 탐지 프로젝트 연구보고서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DEPLOYMENT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대형 모델의 지연 시간을 TensorRT로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76656" y="1901952"/>
            <a:ext cx="28346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2DD4BF"/>
                </a:solidFill>
                <a:latin typeface="Apple SD Gothic Neo"/>
              </a:rPr>
              <a:t>4.11×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761488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8FAFC"/>
                </a:solidFill>
                <a:latin typeface="Apple SD Gothic Neo"/>
              </a:rPr>
              <a:t>PyTorch 대비 TensorRT 추론 가속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310128"/>
            <a:ext cx="349300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CE7F3"/>
                </a:solidFill>
                <a:latin typeface="Apple SD Gothic Neo"/>
              </a:rPr>
              <a:t>정확도를 위해 YOLO26l을 선택하고,
배포 형식 최적화로 실시간성을 보완했습니다.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18653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91A4B7"/>
                </a:solidFill>
                <a:latin typeface="Apple SD Gothic Neo"/>
              </a:rPr>
              <a:t>추론 시간 · 낮을수록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241401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DCE7F3"/>
                </a:solidFill>
                <a:latin typeface="Apple SD Gothic Neo"/>
              </a:rPr>
              <a:t>PyTorch 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450592"/>
            <a:ext cx="4206240" cy="164592"/>
          </a:xfrm>
          <a:prstGeom prst="round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2450592"/>
            <a:ext cx="4104589" cy="164592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6416" y="239572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FB7185"/>
                </a:solidFill>
                <a:latin typeface="Apple SD Gothic Neo"/>
              </a:rPr>
              <a:t>29.275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314553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DCE7F3"/>
                </a:solidFill>
                <a:latin typeface="Apple SD Gothic Neo"/>
              </a:rPr>
              <a:t>ONNX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182112"/>
            <a:ext cx="4206240" cy="164592"/>
          </a:xfrm>
          <a:prstGeom prst="round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0" y="3182112"/>
            <a:ext cx="2056851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86416" y="31272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F59E0B"/>
                </a:solidFill>
                <a:latin typeface="Apple SD Gothic Neo"/>
              </a:rPr>
              <a:t>14.67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387705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DCE7F3"/>
                </a:solidFill>
                <a:latin typeface="Apple SD Gothic Neo"/>
              </a:rPr>
              <a:t>TensorRT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913632"/>
            <a:ext cx="4206240" cy="164592"/>
          </a:xfrm>
          <a:prstGeom prst="round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0" y="3913632"/>
            <a:ext cx="998000" cy="164592"/>
          </a:xfrm>
          <a:prstGeom prst="round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86416" y="385876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2DD4BF"/>
                </a:solidFill>
                <a:latin typeface="Apple SD Gothic Neo"/>
              </a:rPr>
              <a:t>7.118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46085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DCE7F3"/>
                </a:solidFill>
                <a:latin typeface="Apple SD Gothic Neo"/>
              </a:rPr>
              <a:t>실제 시스템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4645152"/>
            <a:ext cx="4206240" cy="164592"/>
          </a:xfrm>
          <a:prstGeom prst="round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0" y="4645152"/>
            <a:ext cx="1170736" cy="164592"/>
          </a:xfrm>
          <a:prstGeom prst="roundRect">
            <a:avLst/>
          </a:prstGeom>
          <a:solidFill>
            <a:srgbClr val="67E8F9"/>
          </a:solidFill>
          <a:ln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86416" y="459028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67E8F9"/>
                </a:solidFill>
                <a:latin typeface="Apple SD Gothic Neo"/>
              </a:rPr>
              <a:t>8.35 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07408" y="5532120"/>
            <a:ext cx="6537960" cy="566928"/>
          </a:xfrm>
          <a:prstGeom prst="roundRect">
            <a:avLst/>
          </a:prstGeom>
          <a:solidFill>
            <a:srgbClr val="0C2031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568756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8FAFC"/>
                </a:solidFill>
                <a:latin typeface="Apple SD Gothic Neo"/>
              </a:rPr>
              <a:t>실제 시스템 모델 추론  8.35 ms/frame  ≈  119.8 FPS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Source · YOLO26 CCTV 안전이벤트 탐지 프로젝트 연구보고서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SERVER EVENT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탐지 결과를 운영 가능한 이벤트로 변환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874519"/>
            <a:ext cx="3675887" cy="210312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64008" cy="2103120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75687"/>
            <a:ext cx="326440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B7185"/>
                </a:solidFill>
                <a:latin typeface="Apple SD Gothic Neo"/>
              </a:rPr>
              <a:t>NO_HELMET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79"/>
            <a:ext cx="32644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안전모 미착용 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36391"/>
            <a:ext cx="323697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조건  ·  NO_Helmet 탐지
키  ·  source + person/track
결과  ·  WARNING 이벤트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233672"/>
            <a:ext cx="3675887" cy="1874519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233672"/>
            <a:ext cx="64008" cy="1874519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326440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59E0B"/>
                </a:solidFill>
                <a:latin typeface="Apple SD Gothic Neo"/>
              </a:rPr>
              <a:t>DANGER_ZONE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56632"/>
            <a:ext cx="32644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위험구역 침입 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95544"/>
            <a:ext cx="3236975" cy="448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조건  ·  Person bbox ∩ ROI
저장  ·  이벤트 당시 ROI
결과  ·  DANGER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1901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DD4BF"/>
                </a:solidFill>
                <a:latin typeface="Apple SD Gothic Neo"/>
              </a:rPr>
              <a:t>EVENT STATE MACHINE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487168"/>
            <a:ext cx="1673352" cy="1133856"/>
          </a:xfrm>
          <a:prstGeom prst="roundRect">
            <a:avLst/>
          </a:prstGeom>
          <a:solidFill>
            <a:srgbClr val="10263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724912"/>
            <a:ext cx="1673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2DD4BF"/>
                </a:solidFill>
                <a:latin typeface="Apple SD Gothic Neo"/>
              </a:rPr>
              <a:t>CANDIDATE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081528"/>
            <a:ext cx="1673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1A4B7"/>
                </a:solidFill>
                <a:latin typeface="Apple SD Gothic Neo"/>
              </a:rPr>
              <a:t>룰 조건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87168"/>
            <a:ext cx="1673352" cy="1133856"/>
          </a:xfrm>
          <a:prstGeom prst="roundRect">
            <a:avLst/>
          </a:prstGeom>
          <a:solidFill>
            <a:srgbClr val="1026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724912"/>
            <a:ext cx="1673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59E0B"/>
                </a:solidFill>
                <a:latin typeface="Apple SD Gothic Neo"/>
              </a:rPr>
              <a:t>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081528"/>
            <a:ext cx="1673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1A4B7"/>
                </a:solidFill>
                <a:latin typeface="Apple SD Gothic Neo"/>
              </a:rPr>
              <a:t>이벤트 생성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2487168"/>
            <a:ext cx="1673352" cy="1133856"/>
          </a:xfrm>
          <a:prstGeom prst="roundRect">
            <a:avLst/>
          </a:prstGeom>
          <a:solidFill>
            <a:srgbClr val="10263B"/>
          </a:solidFill>
          <a:ln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2724912"/>
            <a:ext cx="1673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67E8F9"/>
                </a:solidFill>
                <a:latin typeface="Apple SD Gothic Neo"/>
              </a:rPr>
              <a:t>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081528"/>
            <a:ext cx="1673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1A4B7"/>
                </a:solidFill>
                <a:latin typeface="Apple SD Gothic Neo"/>
              </a:rPr>
              <a:t>연속 탐지 병합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37376" y="3054096"/>
            <a:ext cx="420624" cy="0"/>
          </a:xfrm>
          <a:prstGeom prst="line">
            <a:avLst/>
          </a:prstGeom>
          <a:ln w="2540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86216" y="3054096"/>
            <a:ext cx="42062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03720" y="4261104"/>
            <a:ext cx="3822191" cy="1170432"/>
          </a:xfrm>
          <a:prstGeom prst="roundRect">
            <a:avLst/>
          </a:prstGeom>
          <a:solidFill>
            <a:srgbClr val="10263B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9752" y="449884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B7185"/>
                </a:solidFill>
                <a:latin typeface="Apple SD Gothic Neo"/>
              </a:rPr>
              <a:t>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4489704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DCE7F3"/>
                </a:solidFill>
                <a:latin typeface="Apple SD Gothic Neo"/>
              </a:rPr>
              <a:t>5프레임 연속 미탐 → 지속 시간 확정 → 클립 생성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93808" y="3630168"/>
            <a:ext cx="0" cy="576072"/>
          </a:xfrm>
          <a:prstGeom prst="line">
            <a:avLst/>
          </a:prstGeom>
          <a:ln w="2540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73168" y="5724144"/>
            <a:ext cx="6537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67E8F9"/>
                </a:solidFill>
                <a:latin typeface="Apple SD Gothic Neo"/>
              </a:rPr>
              <a:t>보정 로직  ·  위치 유사도 기반 이벤트 재연결  ·  같은 프레임 중복 후보 병합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EVIDENCE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이벤트 전후 맥락까지 남기는 증거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1560" y="3017520"/>
            <a:ext cx="6355080" cy="0"/>
          </a:xfrm>
          <a:prstGeom prst="line">
            <a:avLst/>
          </a:prstGeom>
          <a:ln w="762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874519" y="2907792"/>
            <a:ext cx="4315968" cy="219456"/>
          </a:xfrm>
          <a:prstGeom prst="round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83079" y="2926080"/>
            <a:ext cx="182880" cy="182880"/>
          </a:xfrm>
          <a:prstGeom prst="ellipse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59" y="324612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START − 3s</a:t>
            </a:r>
          </a:p>
        </p:txBody>
      </p:sp>
      <p:sp>
        <p:nvSpPr>
          <p:cNvPr id="10" name="Oval 9"/>
          <p:cNvSpPr/>
          <p:nvPr/>
        </p:nvSpPr>
        <p:spPr>
          <a:xfrm>
            <a:off x="3803904" y="2926080"/>
            <a:ext cx="182880" cy="18288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00984" y="324612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F59E0B"/>
                </a:solidFill>
                <a:latin typeface="Apple SD Gothic Neo"/>
              </a:rPr>
              <a:t>EVENT</a:t>
            </a:r>
          </a:p>
        </p:txBody>
      </p:sp>
      <p:sp>
        <p:nvSpPr>
          <p:cNvPr id="12" name="Oval 11"/>
          <p:cNvSpPr/>
          <p:nvPr/>
        </p:nvSpPr>
        <p:spPr>
          <a:xfrm>
            <a:off x="6099048" y="2926080"/>
            <a:ext cx="182880" cy="182880"/>
          </a:xfrm>
          <a:prstGeom prst="ellipse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324612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FB7185"/>
                </a:solidFill>
                <a:latin typeface="Apple SD Gothic Neo"/>
              </a:rPr>
              <a:t>END + 1s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21284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메모리 프레임 버퍼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13632"/>
            <a:ext cx="6309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DCE7F3"/>
                </a:solidFill>
                <a:latin typeface="Apple SD Gothic Neo"/>
              </a:rPr>
              <a:t>종료 시 선택 구간 디코딩 → MP4 인코딩 → 첫 프레임 JPG 썸네일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947672"/>
            <a:ext cx="3639312" cy="1078992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18120" y="1947672"/>
            <a:ext cx="64008" cy="1078992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4152" y="2167128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Pydantic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4152" y="260604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API 응답 스키마·타입 검증
Swagger 데이터 계약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3246120"/>
            <a:ext cx="3639312" cy="1078992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18120" y="3246120"/>
            <a:ext cx="64008" cy="107899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4152" y="3465576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Uvicorn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390448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FastAPI ASGI 실행
HTTP·WebSocket 수신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20" y="4544568"/>
            <a:ext cx="3639312" cy="1078992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18120" y="4544568"/>
            <a:ext cx="64008" cy="1078992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74152" y="4764024"/>
            <a:ext cx="32278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SQLite +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74152" y="5202936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이벤트 메타데이터와
MP4·JPG 증거 분리 저장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92624"/>
            <a:ext cx="6729984" cy="749808"/>
          </a:xfrm>
          <a:prstGeom prst="roundRect">
            <a:avLst/>
          </a:prstGeom>
          <a:solidFill>
            <a:srgbClr val="0C2031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239512"/>
            <a:ext cx="6181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67E8F9"/>
                </a:solidFill>
                <a:latin typeface="Apple SD Gothic Neo"/>
              </a:rPr>
              <a:t>룰 설정이 바뀌어도 과거 이벤트의 ROI와 관련 detection을 재현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MONITORING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관리자가 위험 상황을 확인하고 룰을 조정하는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874519"/>
            <a:ext cx="10835640" cy="4133087"/>
          </a:xfrm>
          <a:prstGeom prst="roundRect">
            <a:avLst/>
          </a:prstGeom>
          <a:solidFill>
            <a:srgbClr val="0B1825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10835640" cy="411480"/>
          </a:xfrm>
          <a:prstGeom prst="rect">
            <a:avLst/>
          </a:prstGeom>
          <a:solidFill>
            <a:srgbClr val="16344C"/>
          </a:solidFill>
          <a:ln>
            <a:solidFill>
              <a:srgbClr val="16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93391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F8FAFC"/>
                </a:solidFill>
                <a:latin typeface="Apple SD Gothic Neo"/>
              </a:rPr>
              <a:t>SAFETY 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441447"/>
            <a:ext cx="1847088" cy="3364992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633471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91A4B7"/>
                </a:solidFill>
                <a:latin typeface="Apple SD Gothic Neo"/>
              </a:rPr>
              <a:t>CAMERAS</a:t>
            </a:r>
          </a:p>
        </p:txBody>
      </p:sp>
      <p:sp>
        <p:nvSpPr>
          <p:cNvPr id="11" name="Oval 10"/>
          <p:cNvSpPr/>
          <p:nvPr/>
        </p:nvSpPr>
        <p:spPr>
          <a:xfrm>
            <a:off x="969264" y="3044951"/>
            <a:ext cx="109728" cy="109728"/>
          </a:xfrm>
          <a:prstGeom prst="ellipse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017519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DCE7F3"/>
                </a:solidFill>
                <a:latin typeface="Apple SD Gothic Neo"/>
              </a:rPr>
              <a:t>Line A · Entry</a:t>
            </a:r>
          </a:p>
        </p:txBody>
      </p:sp>
      <p:sp>
        <p:nvSpPr>
          <p:cNvPr id="13" name="Oval 12"/>
          <p:cNvSpPr/>
          <p:nvPr/>
        </p:nvSpPr>
        <p:spPr>
          <a:xfrm>
            <a:off x="969264" y="3666743"/>
            <a:ext cx="109728" cy="109728"/>
          </a:xfrm>
          <a:prstGeom prst="ellipse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639311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DCE7F3"/>
                </a:solidFill>
                <a:latin typeface="Apple SD Gothic Neo"/>
              </a:rPr>
              <a:t>Line B · Press</a:t>
            </a:r>
          </a:p>
        </p:txBody>
      </p:sp>
      <p:sp>
        <p:nvSpPr>
          <p:cNvPr id="15" name="Oval 14"/>
          <p:cNvSpPr/>
          <p:nvPr/>
        </p:nvSpPr>
        <p:spPr>
          <a:xfrm>
            <a:off x="969264" y="4288535"/>
            <a:ext cx="109728" cy="109728"/>
          </a:xfrm>
          <a:prstGeom prst="ellipse">
            <a:avLst/>
          </a:prstGeom>
          <a:solidFill>
            <a:srgbClr val="91A4B7"/>
          </a:solidFill>
          <a:ln>
            <a:solidFill>
              <a:srgbClr val="91A4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261103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DCE7F3"/>
                </a:solidFill>
                <a:latin typeface="Apple SD Gothic Neo"/>
              </a:rPr>
              <a:t>Warehouse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07208" y="2441447"/>
            <a:ext cx="2148840" cy="1481328"/>
          </a:xfrm>
          <a:prstGeom prst="roundRect">
            <a:avLst/>
          </a:prstGeom>
          <a:solidFill>
            <a:srgbClr val="122B3D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256031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91A4B7"/>
                </a:solidFill>
                <a:latin typeface="Apple SD Gothic Neo"/>
              </a:rPr>
              <a:t>CAM 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13048" y="2788919"/>
            <a:ext cx="438912" cy="841248"/>
          </a:xfrm>
          <a:prstGeom prst="roundRect">
            <a:avLst/>
          </a:prstGeom>
          <a:solidFill>
            <a:srgbClr val="173447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38928" y="2441447"/>
            <a:ext cx="2148840" cy="1481328"/>
          </a:xfrm>
          <a:prstGeom prst="roundRect">
            <a:avLst/>
          </a:prstGeom>
          <a:solidFill>
            <a:srgbClr val="122B3D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66944" y="256031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91A4B7"/>
                </a:solidFill>
                <a:latin typeface="Apple SD Gothic Neo"/>
              </a:rPr>
              <a:t>CAM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2788919"/>
            <a:ext cx="438912" cy="841248"/>
          </a:xfrm>
          <a:prstGeom prst="roundRect">
            <a:avLst/>
          </a:prstGeom>
          <a:solidFill>
            <a:srgbClr val="173447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4133087"/>
            <a:ext cx="2148840" cy="1481328"/>
          </a:xfrm>
          <a:prstGeom prst="roundRect">
            <a:avLst/>
          </a:prstGeom>
          <a:solidFill>
            <a:srgbClr val="122B3D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35224" y="425195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91A4B7"/>
                </a:solidFill>
                <a:latin typeface="Apple SD Gothic Neo"/>
              </a:rPr>
              <a:t>CAM 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3048" y="4480559"/>
            <a:ext cx="438912" cy="841248"/>
          </a:xfrm>
          <a:prstGeom prst="roundRect">
            <a:avLst/>
          </a:prstGeom>
          <a:solidFill>
            <a:srgbClr val="173447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18104" y="4882895"/>
            <a:ext cx="1444752" cy="512064"/>
          </a:xfrm>
          <a:prstGeom prst="roundRect">
            <a:avLst/>
          </a:prstGeom>
          <a:solidFill>
            <a:srgbClr val="6B2F1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38928" y="4133087"/>
            <a:ext cx="2148840" cy="1481328"/>
          </a:xfrm>
          <a:prstGeom prst="roundRect">
            <a:avLst/>
          </a:prstGeom>
          <a:solidFill>
            <a:srgbClr val="122B3D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6944" y="425195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91A4B7"/>
                </a:solidFill>
                <a:latin typeface="Apple SD Gothic Neo"/>
              </a:rPr>
              <a:t>CAM 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4480559"/>
            <a:ext cx="438912" cy="841248"/>
          </a:xfrm>
          <a:prstGeom prst="roundRect">
            <a:avLst/>
          </a:prstGeom>
          <a:solidFill>
            <a:srgbClr val="173447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07808" y="2441447"/>
            <a:ext cx="3730752" cy="3364992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08976" y="263347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91A4B7"/>
                </a:solidFill>
                <a:latin typeface="Apple SD Gothic Neo"/>
              </a:rPr>
              <a:t>EVENT LOG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90688" y="3017519"/>
            <a:ext cx="3346704" cy="566928"/>
          </a:xfrm>
          <a:prstGeom prst="roundRect">
            <a:avLst/>
          </a:prstGeom>
          <a:solidFill>
            <a:srgbClr val="11283A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90688" y="3017519"/>
            <a:ext cx="45720" cy="56692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64424" y="3108959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FB7185"/>
                </a:solidFill>
                <a:latin typeface="Apple SD Gothic Neo"/>
              </a:rPr>
              <a:t>NO HELMET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3118103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>
                <a:solidFill>
                  <a:srgbClr val="91A4B7"/>
                </a:solidFill>
                <a:latin typeface="Apple SD Gothic Neo"/>
              </a:rPr>
              <a:t>CAM 02 · 10:24:18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90688" y="3730751"/>
            <a:ext cx="3346704" cy="566928"/>
          </a:xfrm>
          <a:prstGeom prst="roundRect">
            <a:avLst/>
          </a:prstGeom>
          <a:solidFill>
            <a:srgbClr val="11283A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90688" y="3730751"/>
            <a:ext cx="45720" cy="5669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4" y="3822191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F59E0B"/>
                </a:solidFill>
                <a:latin typeface="Apple SD Gothic Neo"/>
              </a:rPr>
              <a:t>DANGER ZONE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3831335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>
                <a:solidFill>
                  <a:srgbClr val="91A4B7"/>
                </a:solidFill>
                <a:latin typeface="Apple SD Gothic Neo"/>
              </a:rPr>
              <a:t>CAM 03 · 10:22:07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90688" y="4443983"/>
            <a:ext cx="3346704" cy="566928"/>
          </a:xfrm>
          <a:prstGeom prst="roundRect">
            <a:avLst/>
          </a:prstGeom>
          <a:solidFill>
            <a:srgbClr val="11283A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90688" y="4443983"/>
            <a:ext cx="45720" cy="56692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4" y="4535423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FB7185"/>
                </a:solidFill>
                <a:latin typeface="Apple SD Gothic Neo"/>
              </a:rPr>
              <a:t>NO HELMET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4544567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>
                <a:solidFill>
                  <a:srgbClr val="91A4B7"/>
                </a:solidFill>
                <a:latin typeface="Apple SD Gothic Neo"/>
              </a:rPr>
              <a:t>CAM 01 · 10:17:42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618134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1A4B7"/>
                </a:solidFill>
                <a:latin typeface="Apple SD Gothic Neo"/>
              </a:rPr>
              <a:t>기능 구성 예시 · 실제 구현: 다중 카메라, 이벤트 필터, 클립 재생, ROI 편집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DD4BF"/>
                </a:solidFill>
                <a:latin typeface="Apple SD Gothic Neo"/>
              </a:rPr>
              <a:t>OUTCOME &amp;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8FAFC"/>
                </a:solidFill>
                <a:latin typeface="Apple SD Gothic Neo"/>
              </a:rPr>
              <a:t>모델 실험을 서비스 의사결정으로 연결한 경험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1">
                <a:solidFill>
                  <a:srgbClr val="91A4B7"/>
                </a:solidFill>
                <a:latin typeface="Apple SD Gothic Neo"/>
              </a:rPr>
              <a:t>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554480"/>
            <a:ext cx="10945368" cy="0"/>
          </a:xfrm>
          <a:prstGeom prst="line">
            <a:avLst/>
          </a:prstGeom>
          <a:ln w="12700">
            <a:solidFill>
              <a:srgbClr val="284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901952"/>
            <a:ext cx="3401568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01952"/>
            <a:ext cx="64008" cy="1965960"/>
          </a:xfrm>
          <a:prstGeom prst="rect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99008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DD4BF"/>
                </a:solidFill>
                <a:latin typeface="Apple SD Gothic Ne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24912"/>
            <a:ext cx="29900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모델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63824"/>
            <a:ext cx="2962656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YOLO26l B32 AdamW
F1 0.7467 · Recall 0.6650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901952"/>
            <a:ext cx="3401568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901952"/>
            <a:ext cx="64008" cy="19659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103120"/>
            <a:ext cx="299008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59E0B"/>
                </a:solidFill>
                <a:latin typeface="Apple SD Gothic Ne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724912"/>
            <a:ext cx="29900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실시간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163824"/>
            <a:ext cx="2962656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TensorRT 7.118 ms
PyTorch 대비 약 4.11×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0416" y="1901952"/>
            <a:ext cx="3401568" cy="1965960"/>
          </a:xfrm>
          <a:prstGeom prst="roundRect">
            <a:avLst/>
          </a:prstGeom>
          <a:solidFill>
            <a:srgbClr val="10263B"/>
          </a:solidFill>
          <a:ln>
            <a:solidFill>
              <a:srgbClr val="284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0416" y="1901952"/>
            <a:ext cx="64008" cy="1965960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2103120"/>
            <a:ext cx="299008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FB7185"/>
                </a:solidFill>
                <a:latin typeface="Apple SD Gothic Ne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724912"/>
            <a:ext cx="29900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8FAFC"/>
                </a:solidFill>
                <a:latin typeface="Apple SD Gothic Neo"/>
              </a:rPr>
              <a:t>운영 이벤트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163824"/>
            <a:ext cx="2962656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1A4B7"/>
                </a:solidFill>
                <a:latin typeface="Apple SD Gothic Neo"/>
              </a:rPr>
              <a:t>서버 룰·수명주기·증거 클립
탐지에서 관제까지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438912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DD4BF"/>
                </a:solidFill>
                <a:latin typeface="Apple SD Gothic Neo"/>
              </a:rPr>
              <a:t>배운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736592"/>
            <a:ext cx="65379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F8FAFC"/>
                </a:solidFill>
                <a:latin typeface="Apple SD Gothic Neo"/>
              </a:rPr>
              <a:t>정확도·속도·운영 구조를 따로 최적화하는 것이 아니라,
현장의 ‘놓치지 않아야 하는 위험’을 기준으로 하나의 시스템으로 설계해야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3891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59E0B"/>
                </a:solidFill>
                <a:latin typeface="Apple SD Gothic Neo"/>
              </a:rPr>
              <a:t>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5552" y="4736592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DCE7F3"/>
                </a:solidFill>
                <a:latin typeface="Apple SD Gothic Neo"/>
              </a:rPr>
              <a:t>야간·역광 데이터 강건성
Tiling / P2 Head 비교
Pruning·Quantization
메시지 큐·외부 DB 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41664" y="6053328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>
                <a:solidFill>
                  <a:srgbClr val="67E8F9"/>
                </a:solidFill>
                <a:latin typeface="Apple SD Gothic Neo"/>
              </a:rPr>
              <a:t>감사합니다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6565392"/>
            <a:ext cx="7772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657C91"/>
                </a:solidFill>
                <a:latin typeface="Apple SD Gothic Neo"/>
              </a:rPr>
              <a:t>Industrial Safety AI Monitoring Service · 이동현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 Safety AI Monitoring Service</dc:title>
  <dc:subject>취업 포트폴리오</dc:subject>
  <dc:creator>이동현</dc:creator>
  <cp:keywords>YOLO, TensorRT, FastAPI, Flutter, 산업 안전, 포트폴리오</cp:keywords>
  <dc:description>README 및 프로젝트 연구보고서를 기반으로 제작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